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9" r:id="rId4"/>
    <p:sldId id="262" r:id="rId6"/>
    <p:sldId id="263" r:id="rId7"/>
    <p:sldId id="264"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The Root Causes of Downtime</c:f>
              <c:strCache>
                <c:ptCount val="1"/>
                <c:pt idx="0">
                  <c:v>The Root Causes of Downtime</c:v>
                </c:pt>
              </c:strCache>
            </c:strRef>
          </c:tx>
          <c:explosion val="0"/>
          <c:dPt>
            <c:idx val="0"/>
            <c:bubble3D val="0"/>
            <c:spPr>
              <a:solidFill>
                <a:srgbClr val="FFFFFF"/>
              </a:solidFill>
              <a:ln w="19046">
                <a:solidFill>
                  <a:srgbClr val="156082"/>
                </a:solidFill>
                <a:prstDash val="solid"/>
              </a:ln>
            </c:spPr>
          </c:dPt>
          <c:dPt>
            <c:idx val="1"/>
            <c:bubble3D val="0"/>
            <c:spPr>
              <a:solidFill>
                <a:srgbClr val="FFFFFF"/>
              </a:solidFill>
              <a:ln w="19046">
                <a:solidFill>
                  <a:srgbClr val="156082"/>
                </a:solidFill>
                <a:prstDash val="solid"/>
              </a:ln>
            </c:spPr>
          </c:dPt>
          <c:dPt>
            <c:idx val="2"/>
            <c:bubble3D val="0"/>
            <c:spPr>
              <a:solidFill>
                <a:srgbClr val="FFFFFF"/>
              </a:solidFill>
              <a:ln w="19046">
                <a:solidFill>
                  <a:srgbClr val="156082"/>
                </a:solidFill>
                <a:prstDash val="solid"/>
              </a:ln>
            </c:spPr>
          </c:dPt>
          <c:dPt>
            <c:idx val="3"/>
            <c:bubble3D val="0"/>
            <c:spPr>
              <a:solidFill>
                <a:srgbClr val="FFFFFF"/>
              </a:solidFill>
              <a:ln w="19046">
                <a:solidFill>
                  <a:srgbClr val="156082"/>
                </a:solidFill>
                <a:prstDash val="solid"/>
              </a:ln>
            </c:spPr>
          </c:dPt>
          <c:dLbls>
            <c:dLbl>
              <c:idx val="0"/>
              <c:layout/>
              <c:dLblPos val="bestFit"/>
              <c:showLegendKey val="0"/>
              <c:showVal val="1"/>
              <c:showCatName val="1"/>
              <c:showSerName val="0"/>
              <c:showPercent val="0"/>
              <c:showBubbleSize val="0"/>
              <c:separator>, </c:separator>
              <c:extLst>
                <c:ext xmlns:c15="http://schemas.microsoft.com/office/drawing/2012/chart" uri="{CE6537A1-D6FC-4f65-9D91-7224C49458BB}"/>
              </c:extLst>
            </c:dLbl>
            <c:dLbl>
              <c:idx val="1"/>
              <c:layout/>
              <c:dLblPos val="bestFit"/>
              <c:showLegendKey val="0"/>
              <c:showVal val="1"/>
              <c:showCatName val="1"/>
              <c:showSerName val="0"/>
              <c:showPercent val="0"/>
              <c:showBubbleSize val="0"/>
              <c:separator>, </c:separator>
              <c:extLst>
                <c:ext xmlns:c15="http://schemas.microsoft.com/office/drawing/2012/chart" uri="{CE6537A1-D6FC-4f65-9D91-7224C49458BB}"/>
              </c:extLst>
            </c:dLbl>
            <c:spPr>
              <a:noFill/>
              <a:ln>
                <a:noFill/>
              </a:ln>
              <a:effectLst/>
            </c:spPr>
            <c:txPr>
              <a:bodyPr rot="0" spcFirstLastPara="0" vertOverflow="ellipsis" vert="horz" wrap="square" lIns="0" tIns="0" rIns="0" bIns="0" anchor="ctr" anchorCtr="1"/>
              <a:lstStyle/>
              <a:p>
                <a:pPr algn="ctr">
                  <a:defRPr lang="en-US" sz="1195" b="1" i="0" u="none" strike="noStrike" kern="1200" baseline="0">
                    <a:solidFill>
                      <a:srgbClr val="156082"/>
                    </a:solidFill>
                    <a:latin typeface="Aptos"/>
                    <a:ea typeface="+mn-ea"/>
                    <a:cs typeface="+mn-cs"/>
                  </a:defRPr>
                </a:pPr>
              </a:p>
            </c:txPr>
            <c:dLblPos val="bestFit"/>
            <c:showLegendKey val="0"/>
            <c:showVal val="1"/>
            <c:showCatName val="1"/>
            <c:showSerName val="0"/>
            <c:showPercent val="1"/>
            <c:showBubbleSize val="0"/>
            <c:separator>, </c:separator>
            <c:showLeaderLines val="1"/>
            <c:extLst>
              <c:ext xmlns:c15="http://schemas.microsoft.com/office/drawing/2012/chart" uri="{CE6537A1-D6FC-4f65-9D91-7224C49458BB}">
                <c15:layout/>
                <c15:showLeaderLines val="1"/>
                <c15:leaderLines/>
              </c:ext>
            </c:extLst>
          </c:dLbls>
          <c:cat>
            <c:strRef>
              <c:f>{"Operator Factors","Non- Operator Factors","",""}</c:f>
              <c:strCache>
                <c:ptCount val="4"/>
                <c:pt idx="0">
                  <c:v>Operator Factors</c:v>
                </c:pt>
                <c:pt idx="1">
                  <c:v>Non- Operator Factors</c:v>
                </c:pt>
              </c:strCache>
            </c:strRef>
          </c:cat>
          <c:val>
            <c:numRef>
              <c:f>{0.31,0.69,0,0}</c:f>
              <c:numCache>
                <c:formatCode>General</c:formatCode>
                <c:ptCount val="4"/>
                <c:pt idx="0">
                  <c:v>0.31</c:v>
                </c:pt>
                <c:pt idx="1">
                  <c:v>0.69</c:v>
                </c:pt>
                <c:pt idx="2">
                  <c:v>0</c:v>
                </c:pt>
                <c:pt idx="3">
                  <c:v>0</c:v>
                </c:pt>
              </c:numCache>
            </c:numRef>
          </c:val>
        </c:ser>
        <c:dLbls>
          <c:showLegendKey val="0"/>
          <c:showVal val="0"/>
          <c:showCatName val="0"/>
          <c:showSerName val="0"/>
          <c:showPercent val="0"/>
          <c:showBubbleSize val="0"/>
          <c:showLeaderLines val="1"/>
        </c:dLbls>
        <c:firstSliceAng val="0"/>
      </c:pieChart>
      <c:spPr>
        <a:noFill/>
        <a:ln>
          <a:noFill/>
        </a:ln>
      </c:spPr>
    </c:plotArea>
    <c:plotVisOnly val="1"/>
    <c:dispBlanksAs val="gap"/>
    <c:showDLblsOverMax val="0"/>
    <c:extLst>
      <c:ext uri="{0b15fc19-7d7d-44ad-8c2d-2c3a37ce22c3}">
        <chartProps xmlns="https://web.wps.cn/et/2018/main" chartId="{822296cf-7ea0-4550-9210-d17c2c087647}"/>
      </c:ext>
    </c:extLst>
  </c:chart>
  <c:spPr>
    <a:noFill/>
    <a:ln>
      <a:noFill/>
    </a:ln>
    <a:effectLst>
      <a:outerShdw dir="16200000" algn="tl">
        <a:srgbClr val="000000">
          <a:alpha val="0"/>
        </a:srgbClr>
      </a:outerShdw>
    </a:effectLst>
  </c:spPr>
  <c:txPr>
    <a:bodyPr lIns="0" tIns="0" rIns="0" bIns="0"/>
    <a:lstStyle/>
    <a:p>
      <a:pPr>
        <a:defRPr lang="en-US" sz="1330" b="0" i="0" u="none" strike="noStrike" kern="1200" baseline="0">
          <a:solidFill>
            <a:srgbClr val="000000"/>
          </a:solidFill>
          <a:latin typeface="Aptos"/>
        </a:defRPr>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defRPr lang="de-DE" sz="1200" b="0" i="0" u="none" strike="noStrike" kern="1200" cap="none" spc="0" baseline="0">
                <a:solidFill>
                  <a:srgbClr val="000000"/>
                </a:solidFill>
                <a:uFillTx/>
                <a:latin typeface="Aptos"/>
              </a:defRPr>
            </a:lvl1pPr>
          </a:lstStyle>
          <a:p>
            <a:pPr lvl="0"/>
            <a:endParaRPr lang="de-DE"/>
          </a:p>
        </p:txBody>
      </p:sp>
      <p:sp>
        <p:nvSpPr>
          <p:cNvPr id="3" name="Date Placeholder 2"/>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defRPr lang="de-DE" sz="1200" b="0" i="0" u="none" strike="noStrike" kern="1200" cap="none" spc="0" baseline="0">
                <a:solidFill>
                  <a:srgbClr val="000000"/>
                </a:solidFill>
                <a:uFillTx/>
                <a:latin typeface="Aptos"/>
              </a:defRPr>
            </a:lvl1pPr>
          </a:lstStyle>
          <a:p>
            <a:pPr lvl="0"/>
            <a:fld id="{61091C60-5EA0-4E7F-888F-286972085BBD}" type="datetime1">
              <a:rPr lang="de-DE"/>
            </a:fld>
            <a:endParaRPr lang="de-DE"/>
          </a:p>
        </p:txBody>
      </p:sp>
      <p:sp>
        <p:nvSpPr>
          <p:cNvPr id="4" name="Slide Image Placeholder 3"/>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6" name="Footer Placeholder 5"/>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defRPr lang="de-DE" sz="1200" b="0" i="0" u="none" strike="noStrike" kern="1200" cap="none" spc="0" baseline="0">
                <a:solidFill>
                  <a:srgbClr val="000000"/>
                </a:solidFill>
                <a:uFillTx/>
                <a:latin typeface="Aptos"/>
              </a:defRPr>
            </a:lvl1pPr>
          </a:lstStyle>
          <a:p>
            <a:pPr lvl="0"/>
            <a:endParaRPr lang="de-DE"/>
          </a:p>
        </p:txBody>
      </p:sp>
      <p:sp>
        <p:nvSpPr>
          <p:cNvPr id="7" name="Slide Number Placeholder 6"/>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defRPr lang="de-DE" sz="1200" b="0" i="0" u="none" strike="noStrike" kern="1200" cap="none" spc="0" baseline="0">
                <a:solidFill>
                  <a:srgbClr val="000000"/>
                </a:solidFill>
                <a:uFillTx/>
                <a:latin typeface="Aptos"/>
              </a:defRPr>
            </a:lvl1pPr>
          </a:lstStyle>
          <a:p>
            <a:pPr lvl="0"/>
            <a:fld id="{A8E965C8-C533-4960-81C1-6DAE4CFFF196}" type="slidenum">
              <a:rPr/>
            </a:fld>
            <a:endParaRPr lang="de-DE"/>
          </a:p>
        </p:txBody>
      </p:sp>
    </p:spTree>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Aptos"/>
      </a:defRPr>
    </a:lvl1pPr>
    <a:lvl2pPr marL="457200" marR="0" lvl="1"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Aptos"/>
      </a:defRPr>
    </a:lvl2pPr>
    <a:lvl3pPr marL="914400" marR="0" lvl="2"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Aptos"/>
      </a:defRPr>
    </a:lvl3pPr>
    <a:lvl4pPr marL="1371600" marR="0" lvl="3"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Aptos"/>
      </a:defRPr>
    </a:lvl4pPr>
    <a:lvl5pPr marL="1828800" marR="0" lvl="4"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sz="quarter" idx="1"/>
          </p:nvPr>
        </p:nvSpPr>
        <p:spPr/>
        <p:txBody>
          <a:bodyPr/>
          <a:lstStyle/>
          <a:p>
            <a:endParaRPr lang="de-DE"/>
          </a:p>
        </p:txBody>
      </p:sp>
      <p:sp>
        <p:nvSpPr>
          <p:cNvPr id="4" name="Slide Number Placeholder 3"/>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fld id="{E97C7FDE-E8F0-44AC-91B8-5517CC1B77F6}" type="slidenum">
              <a:rPr/>
            </a:fld>
            <a:endParaRPr lang="de-DE" sz="1200" b="0" i="0" u="none" strike="noStrike" kern="1200" cap="none" spc="0" baseline="0">
              <a:solidFill>
                <a:srgbClr val="000000"/>
              </a:solidFill>
              <a:uFillTx/>
              <a:latin typeface="Apto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sz="quarter" idx="1"/>
          </p:nvPr>
        </p:nvSpPr>
        <p:spPr/>
        <p:txBody>
          <a:bodyPr/>
          <a:lstStyle/>
          <a:p>
            <a:endParaRPr lang="de-DE"/>
          </a:p>
        </p:txBody>
      </p:sp>
      <p:sp>
        <p:nvSpPr>
          <p:cNvPr id="4" name="Slide Number Placeholder 3"/>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fld id="{2B74C524-2A80-4114-85A7-5A78C7C8F392}" type="slidenum">
              <a:rPr/>
            </a:fld>
            <a:endParaRPr lang="de-DE" sz="1200" b="0" i="0" u="none" strike="noStrike" kern="1200" cap="none" spc="0" baseline="0">
              <a:solidFill>
                <a:srgbClr val="000000"/>
              </a:solidFill>
              <a:uFillTx/>
              <a:latin typeface="Apto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de-DE"/>
          </a:p>
        </p:txBody>
      </p:sp>
      <p:sp>
        <p:nvSpPr>
          <p:cNvPr id="3" name="Subtitle 2"/>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de-DE"/>
          </a:p>
        </p:txBody>
      </p:sp>
      <p:sp>
        <p:nvSpPr>
          <p:cNvPr id="4" name="Date Placeholder 3"/>
          <p:cNvSpPr txBox="1">
            <a:spLocks noGrp="1"/>
          </p:cNvSpPr>
          <p:nvPr>
            <p:ph type="dt" sz="half" idx="7"/>
          </p:nvPr>
        </p:nvSpPr>
        <p:spPr/>
        <p:txBody>
          <a:bodyPr/>
          <a:lstStyle>
            <a:lvl1pPr>
              <a:defRPr/>
            </a:lvl1pPr>
          </a:lstStyle>
          <a:p>
            <a:pPr lvl="0"/>
            <a:fld id="{5C55DA35-EFBA-4AA7-A104-53719F1C7EC9}" type="datetime1">
              <a:rPr lang="de-DE"/>
            </a:fld>
            <a:endParaRPr lang="de-DE"/>
          </a:p>
        </p:txBody>
      </p:sp>
      <p:sp>
        <p:nvSpPr>
          <p:cNvPr id="5" name="Footer Placeholder 4"/>
          <p:cNvSpPr txBox="1">
            <a:spLocks noGrp="1"/>
          </p:cNvSpPr>
          <p:nvPr>
            <p:ph type="ftr" sz="quarter" idx="9"/>
          </p:nvPr>
        </p:nvSpPr>
        <p:spPr/>
        <p:txBody>
          <a:bodyPr/>
          <a:lstStyle>
            <a:lvl1pPr>
              <a:defRPr/>
            </a:lvl1pPr>
          </a:lstStyle>
          <a:p>
            <a:pPr lvl="0"/>
            <a:endParaRPr lang="de-DE"/>
          </a:p>
        </p:txBody>
      </p:sp>
      <p:sp>
        <p:nvSpPr>
          <p:cNvPr id="6" name="Slide Number Placeholder 5"/>
          <p:cNvSpPr txBox="1">
            <a:spLocks noGrp="1"/>
          </p:cNvSpPr>
          <p:nvPr>
            <p:ph type="sldNum" sz="quarter" idx="8"/>
          </p:nvPr>
        </p:nvSpPr>
        <p:spPr/>
        <p:txBody>
          <a:bodyPr/>
          <a:lstStyle>
            <a:lvl1pPr>
              <a:defRPr/>
            </a:lvl1pPr>
          </a:lstStyle>
          <a:p>
            <a:pPr lvl="0"/>
            <a:fld id="{CD7C5CF6-8B1C-44C5-98E2-A8E7B3FA4559}" type="slidenum">
              <a:rPr/>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de-DE"/>
          </a:p>
        </p:txBody>
      </p:sp>
      <p:sp>
        <p:nvSpPr>
          <p:cNvPr id="3" name="Content Placeholder 2"/>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4" name="Date Placeholder 3"/>
          <p:cNvSpPr txBox="1">
            <a:spLocks noGrp="1"/>
          </p:cNvSpPr>
          <p:nvPr>
            <p:ph type="dt" sz="half" idx="7"/>
          </p:nvPr>
        </p:nvSpPr>
        <p:spPr/>
        <p:txBody>
          <a:bodyPr/>
          <a:lstStyle>
            <a:lvl1pPr>
              <a:defRPr/>
            </a:lvl1pPr>
          </a:lstStyle>
          <a:p>
            <a:pPr lvl="0"/>
            <a:fld id="{139DB02E-D0F9-47E6-86D2-26A5C491EC38}" type="datetime1">
              <a:rPr lang="de-DE"/>
            </a:fld>
            <a:endParaRPr lang="de-DE"/>
          </a:p>
        </p:txBody>
      </p:sp>
      <p:sp>
        <p:nvSpPr>
          <p:cNvPr id="5" name="Footer Placeholder 4"/>
          <p:cNvSpPr txBox="1">
            <a:spLocks noGrp="1"/>
          </p:cNvSpPr>
          <p:nvPr>
            <p:ph type="ftr" sz="quarter" idx="9"/>
          </p:nvPr>
        </p:nvSpPr>
        <p:spPr/>
        <p:txBody>
          <a:bodyPr/>
          <a:lstStyle>
            <a:lvl1pPr>
              <a:defRPr/>
            </a:lvl1pPr>
          </a:lstStyle>
          <a:p>
            <a:pPr lvl="0"/>
            <a:endParaRPr lang="de-DE"/>
          </a:p>
        </p:txBody>
      </p:sp>
      <p:sp>
        <p:nvSpPr>
          <p:cNvPr id="6" name="Slide Number Placeholder 5"/>
          <p:cNvSpPr txBox="1">
            <a:spLocks noGrp="1"/>
          </p:cNvSpPr>
          <p:nvPr>
            <p:ph type="sldNum" sz="quarter" idx="8"/>
          </p:nvPr>
        </p:nvSpPr>
        <p:spPr/>
        <p:txBody>
          <a:bodyPr/>
          <a:lstStyle>
            <a:lvl1pPr>
              <a:defRPr/>
            </a:lvl1pPr>
          </a:lstStyle>
          <a:p>
            <a:pPr lvl="0"/>
            <a:fld id="{EC8706E9-BBDB-4CCF-AAD3-3D9224DE19CB}" type="slidenum">
              <a:rPr/>
            </a:fld>
            <a:endParaRPr lang="de-DE"/>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de-DE"/>
          </a:p>
        </p:txBody>
      </p:sp>
      <p:sp>
        <p:nvSpPr>
          <p:cNvPr id="3" name="Text Placeholder 2"/>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en-US"/>
              <a:t>Click to edit Master text styles</a:t>
            </a:r>
            <a:endParaRPr lang="en-US"/>
          </a:p>
        </p:txBody>
      </p:sp>
      <p:sp>
        <p:nvSpPr>
          <p:cNvPr id="4" name="Date Placeholder 3"/>
          <p:cNvSpPr txBox="1">
            <a:spLocks noGrp="1"/>
          </p:cNvSpPr>
          <p:nvPr>
            <p:ph type="dt" sz="half" idx="7"/>
          </p:nvPr>
        </p:nvSpPr>
        <p:spPr/>
        <p:txBody>
          <a:bodyPr/>
          <a:lstStyle>
            <a:lvl1pPr>
              <a:defRPr/>
            </a:lvl1pPr>
          </a:lstStyle>
          <a:p>
            <a:pPr lvl="0"/>
            <a:fld id="{E7D27CAB-4AC2-4A7A-A468-4D3591FA74C1}" type="datetime1">
              <a:rPr lang="de-DE"/>
            </a:fld>
            <a:endParaRPr lang="de-DE"/>
          </a:p>
        </p:txBody>
      </p:sp>
      <p:sp>
        <p:nvSpPr>
          <p:cNvPr id="5" name="Footer Placeholder 4"/>
          <p:cNvSpPr txBox="1">
            <a:spLocks noGrp="1"/>
          </p:cNvSpPr>
          <p:nvPr>
            <p:ph type="ftr" sz="quarter" idx="9"/>
          </p:nvPr>
        </p:nvSpPr>
        <p:spPr/>
        <p:txBody>
          <a:bodyPr/>
          <a:lstStyle>
            <a:lvl1pPr>
              <a:defRPr/>
            </a:lvl1pPr>
          </a:lstStyle>
          <a:p>
            <a:pPr lvl="0"/>
            <a:endParaRPr lang="de-DE"/>
          </a:p>
        </p:txBody>
      </p:sp>
      <p:sp>
        <p:nvSpPr>
          <p:cNvPr id="6" name="Slide Number Placeholder 5"/>
          <p:cNvSpPr txBox="1">
            <a:spLocks noGrp="1"/>
          </p:cNvSpPr>
          <p:nvPr>
            <p:ph type="sldNum" sz="quarter" idx="8"/>
          </p:nvPr>
        </p:nvSpPr>
        <p:spPr/>
        <p:txBody>
          <a:bodyPr/>
          <a:lstStyle>
            <a:lvl1pPr>
              <a:defRPr/>
            </a:lvl1pPr>
          </a:lstStyle>
          <a:p>
            <a:pPr lvl="0"/>
            <a:fld id="{537D06F7-E5FF-4DAF-A548-6219B0CFD950}" type="slidenum">
              <a:rPr/>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de-DE"/>
          </a:p>
        </p:txBody>
      </p:sp>
      <p:sp>
        <p:nvSpPr>
          <p:cNvPr id="3" name="Content Placeholder 2"/>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4" name="Content Placeholder 3"/>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5" name="Date Placeholder 4"/>
          <p:cNvSpPr txBox="1">
            <a:spLocks noGrp="1"/>
          </p:cNvSpPr>
          <p:nvPr>
            <p:ph type="dt" sz="half" idx="7"/>
          </p:nvPr>
        </p:nvSpPr>
        <p:spPr/>
        <p:txBody>
          <a:bodyPr/>
          <a:lstStyle>
            <a:lvl1pPr>
              <a:defRPr/>
            </a:lvl1pPr>
          </a:lstStyle>
          <a:p>
            <a:pPr lvl="0"/>
            <a:fld id="{7603F91B-7413-4CA5-9751-2B918C1E43F6}" type="datetime1">
              <a:rPr lang="de-DE"/>
            </a:fld>
            <a:endParaRPr lang="de-DE"/>
          </a:p>
        </p:txBody>
      </p:sp>
      <p:sp>
        <p:nvSpPr>
          <p:cNvPr id="6" name="Footer Placeholder 5"/>
          <p:cNvSpPr txBox="1">
            <a:spLocks noGrp="1"/>
          </p:cNvSpPr>
          <p:nvPr>
            <p:ph type="ftr" sz="quarter" idx="9"/>
          </p:nvPr>
        </p:nvSpPr>
        <p:spPr/>
        <p:txBody>
          <a:bodyPr/>
          <a:lstStyle>
            <a:lvl1pPr>
              <a:defRPr/>
            </a:lvl1pPr>
          </a:lstStyle>
          <a:p>
            <a:pPr lvl="0"/>
            <a:endParaRPr lang="de-DE"/>
          </a:p>
        </p:txBody>
      </p:sp>
      <p:sp>
        <p:nvSpPr>
          <p:cNvPr id="7" name="Slide Number Placeholder 6"/>
          <p:cNvSpPr txBox="1">
            <a:spLocks noGrp="1"/>
          </p:cNvSpPr>
          <p:nvPr>
            <p:ph type="sldNum" sz="quarter" idx="8"/>
          </p:nvPr>
        </p:nvSpPr>
        <p:spPr/>
        <p:txBody>
          <a:bodyPr/>
          <a:lstStyle>
            <a:lvl1pPr>
              <a:defRPr/>
            </a:lvl1pPr>
          </a:lstStyle>
          <a:p>
            <a:pPr lvl="0"/>
            <a:fld id="{8CB3164F-E5AE-4445-998C-5F25ABA65919}" type="slidenum">
              <a:rPr/>
            </a:fld>
            <a:endParaRPr lang="de-DE"/>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de-DE"/>
          </a:p>
        </p:txBody>
      </p:sp>
      <p:sp>
        <p:nvSpPr>
          <p:cNvPr id="3" name="Text Placeholder 2"/>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endParaRPr lang="en-US"/>
          </a:p>
        </p:txBody>
      </p:sp>
      <p:sp>
        <p:nvSpPr>
          <p:cNvPr id="4" name="Content Placeholder 3"/>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5" name="Text Placeholder 4"/>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endParaRPr lang="en-US"/>
          </a:p>
        </p:txBody>
      </p:sp>
      <p:sp>
        <p:nvSpPr>
          <p:cNvPr id="6" name="Content Placeholder 5"/>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7" name="Date Placeholder 6"/>
          <p:cNvSpPr txBox="1">
            <a:spLocks noGrp="1"/>
          </p:cNvSpPr>
          <p:nvPr>
            <p:ph type="dt" sz="half" idx="7"/>
          </p:nvPr>
        </p:nvSpPr>
        <p:spPr/>
        <p:txBody>
          <a:bodyPr/>
          <a:lstStyle>
            <a:lvl1pPr>
              <a:defRPr/>
            </a:lvl1pPr>
          </a:lstStyle>
          <a:p>
            <a:pPr lvl="0"/>
            <a:fld id="{292BB958-B5A7-46BD-AD53-C2E78FEEE919}" type="datetime1">
              <a:rPr lang="de-DE"/>
            </a:fld>
            <a:endParaRPr lang="de-DE"/>
          </a:p>
        </p:txBody>
      </p:sp>
      <p:sp>
        <p:nvSpPr>
          <p:cNvPr id="8" name="Footer Placeholder 7"/>
          <p:cNvSpPr txBox="1">
            <a:spLocks noGrp="1"/>
          </p:cNvSpPr>
          <p:nvPr>
            <p:ph type="ftr" sz="quarter" idx="9"/>
          </p:nvPr>
        </p:nvSpPr>
        <p:spPr/>
        <p:txBody>
          <a:bodyPr/>
          <a:lstStyle>
            <a:lvl1pPr>
              <a:defRPr/>
            </a:lvl1pPr>
          </a:lstStyle>
          <a:p>
            <a:pPr lvl="0"/>
            <a:endParaRPr lang="de-DE"/>
          </a:p>
        </p:txBody>
      </p:sp>
      <p:sp>
        <p:nvSpPr>
          <p:cNvPr id="9" name="Slide Number Placeholder 8"/>
          <p:cNvSpPr txBox="1">
            <a:spLocks noGrp="1"/>
          </p:cNvSpPr>
          <p:nvPr>
            <p:ph type="sldNum" sz="quarter" idx="8"/>
          </p:nvPr>
        </p:nvSpPr>
        <p:spPr/>
        <p:txBody>
          <a:bodyPr/>
          <a:lstStyle>
            <a:lvl1pPr>
              <a:defRPr/>
            </a:lvl1pPr>
          </a:lstStyle>
          <a:p>
            <a:pPr lvl="0"/>
            <a:fld id="{6B338654-36AC-4EC5-84F7-3247ED778327}" type="slidenum">
              <a:rPr/>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de-DE"/>
          </a:p>
        </p:txBody>
      </p:sp>
      <p:sp>
        <p:nvSpPr>
          <p:cNvPr id="3" name="Date Placeholder 2"/>
          <p:cNvSpPr txBox="1">
            <a:spLocks noGrp="1"/>
          </p:cNvSpPr>
          <p:nvPr>
            <p:ph type="dt" sz="half" idx="7"/>
          </p:nvPr>
        </p:nvSpPr>
        <p:spPr/>
        <p:txBody>
          <a:bodyPr/>
          <a:lstStyle>
            <a:lvl1pPr>
              <a:defRPr/>
            </a:lvl1pPr>
          </a:lstStyle>
          <a:p>
            <a:pPr lvl="0"/>
            <a:fld id="{93B6F80B-8DEF-4D69-ACA2-82F1838406AE}" type="datetime1">
              <a:rPr lang="de-DE"/>
            </a:fld>
            <a:endParaRPr lang="de-DE"/>
          </a:p>
        </p:txBody>
      </p:sp>
      <p:sp>
        <p:nvSpPr>
          <p:cNvPr id="4" name="Footer Placeholder 3"/>
          <p:cNvSpPr txBox="1">
            <a:spLocks noGrp="1"/>
          </p:cNvSpPr>
          <p:nvPr>
            <p:ph type="ftr" sz="quarter" idx="9"/>
          </p:nvPr>
        </p:nvSpPr>
        <p:spPr/>
        <p:txBody>
          <a:bodyPr/>
          <a:lstStyle>
            <a:lvl1pPr>
              <a:defRPr/>
            </a:lvl1pPr>
          </a:lstStyle>
          <a:p>
            <a:pPr lvl="0"/>
            <a:endParaRPr lang="de-DE"/>
          </a:p>
        </p:txBody>
      </p:sp>
      <p:sp>
        <p:nvSpPr>
          <p:cNvPr id="5" name="Slide Number Placeholder 4"/>
          <p:cNvSpPr txBox="1">
            <a:spLocks noGrp="1"/>
          </p:cNvSpPr>
          <p:nvPr>
            <p:ph type="sldNum" sz="quarter" idx="8"/>
          </p:nvPr>
        </p:nvSpPr>
        <p:spPr/>
        <p:txBody>
          <a:bodyPr/>
          <a:lstStyle>
            <a:lvl1pPr>
              <a:defRPr/>
            </a:lvl1pPr>
          </a:lstStyle>
          <a:p>
            <a:pPr lvl="0"/>
            <a:fld id="{2601C17C-8D36-49DD-A36A-84ADDD19CB6E}" type="slidenum">
              <a:rPr/>
            </a:fld>
            <a:endParaRPr lang="de-DE"/>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txBox="1">
            <a:spLocks noGrp="1"/>
          </p:cNvSpPr>
          <p:nvPr>
            <p:ph type="dt" sz="half" idx="7"/>
          </p:nvPr>
        </p:nvSpPr>
        <p:spPr/>
        <p:txBody>
          <a:bodyPr/>
          <a:lstStyle>
            <a:lvl1pPr>
              <a:defRPr/>
            </a:lvl1pPr>
          </a:lstStyle>
          <a:p>
            <a:pPr lvl="0"/>
            <a:fld id="{F1856C15-4A1B-4C29-86E7-E0F647BE8681}" type="datetime1">
              <a:rPr lang="de-DE"/>
            </a:fld>
            <a:endParaRPr lang="de-DE"/>
          </a:p>
        </p:txBody>
      </p:sp>
      <p:sp>
        <p:nvSpPr>
          <p:cNvPr id="3" name="Footer Placeholder 2"/>
          <p:cNvSpPr txBox="1">
            <a:spLocks noGrp="1"/>
          </p:cNvSpPr>
          <p:nvPr>
            <p:ph type="ftr" sz="quarter" idx="9"/>
          </p:nvPr>
        </p:nvSpPr>
        <p:spPr/>
        <p:txBody>
          <a:bodyPr/>
          <a:lstStyle>
            <a:lvl1pPr>
              <a:defRPr/>
            </a:lvl1pPr>
          </a:lstStyle>
          <a:p>
            <a:pPr lvl="0"/>
            <a:endParaRPr lang="de-DE"/>
          </a:p>
        </p:txBody>
      </p:sp>
      <p:sp>
        <p:nvSpPr>
          <p:cNvPr id="4" name="Slide Number Placeholder 3"/>
          <p:cNvSpPr txBox="1">
            <a:spLocks noGrp="1"/>
          </p:cNvSpPr>
          <p:nvPr>
            <p:ph type="sldNum" sz="quarter" idx="8"/>
          </p:nvPr>
        </p:nvSpPr>
        <p:spPr/>
        <p:txBody>
          <a:bodyPr/>
          <a:lstStyle>
            <a:lvl1pPr>
              <a:defRPr/>
            </a:lvl1pPr>
          </a:lstStyle>
          <a:p>
            <a:pPr lvl="0"/>
            <a:fld id="{E3E7E1BE-F5D9-468B-8C76-A78105F48F04}" type="slidenum">
              <a:rPr/>
            </a:fld>
            <a:endParaRPr lang="de-DE"/>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de-DE"/>
          </a:p>
        </p:txBody>
      </p:sp>
      <p:sp>
        <p:nvSpPr>
          <p:cNvPr id="3" name="Content Placeholder 2"/>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4" name="Text Placeholder 3"/>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endParaRPr lang="en-US"/>
          </a:p>
        </p:txBody>
      </p:sp>
      <p:sp>
        <p:nvSpPr>
          <p:cNvPr id="5" name="Date Placeholder 4"/>
          <p:cNvSpPr txBox="1">
            <a:spLocks noGrp="1"/>
          </p:cNvSpPr>
          <p:nvPr>
            <p:ph type="dt" sz="half" idx="7"/>
          </p:nvPr>
        </p:nvSpPr>
        <p:spPr/>
        <p:txBody>
          <a:bodyPr/>
          <a:lstStyle>
            <a:lvl1pPr>
              <a:defRPr/>
            </a:lvl1pPr>
          </a:lstStyle>
          <a:p>
            <a:pPr lvl="0"/>
            <a:fld id="{BC85611B-219E-4931-A65C-8406F039FB25}" type="datetime1">
              <a:rPr lang="de-DE"/>
            </a:fld>
            <a:endParaRPr lang="de-DE"/>
          </a:p>
        </p:txBody>
      </p:sp>
      <p:sp>
        <p:nvSpPr>
          <p:cNvPr id="6" name="Footer Placeholder 5"/>
          <p:cNvSpPr txBox="1">
            <a:spLocks noGrp="1"/>
          </p:cNvSpPr>
          <p:nvPr>
            <p:ph type="ftr" sz="quarter" idx="9"/>
          </p:nvPr>
        </p:nvSpPr>
        <p:spPr/>
        <p:txBody>
          <a:bodyPr/>
          <a:lstStyle>
            <a:lvl1pPr>
              <a:defRPr/>
            </a:lvl1pPr>
          </a:lstStyle>
          <a:p>
            <a:pPr lvl="0"/>
            <a:endParaRPr lang="de-DE"/>
          </a:p>
        </p:txBody>
      </p:sp>
      <p:sp>
        <p:nvSpPr>
          <p:cNvPr id="7" name="Slide Number Placeholder 6"/>
          <p:cNvSpPr txBox="1">
            <a:spLocks noGrp="1"/>
          </p:cNvSpPr>
          <p:nvPr>
            <p:ph type="sldNum" sz="quarter" idx="8"/>
          </p:nvPr>
        </p:nvSpPr>
        <p:spPr/>
        <p:txBody>
          <a:bodyPr/>
          <a:lstStyle>
            <a:lvl1pPr>
              <a:defRPr/>
            </a:lvl1pPr>
          </a:lstStyle>
          <a:p>
            <a:pPr lvl="0"/>
            <a:fld id="{2DA55FA8-2EBF-4E2D-942A-F458C4B211F7}" type="slidenum">
              <a:rPr/>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de-DE"/>
          </a:p>
        </p:txBody>
      </p:sp>
      <p:sp>
        <p:nvSpPr>
          <p:cNvPr id="3" name="Picture Placeholder 2"/>
          <p:cNvSpPr txBox="1">
            <a:spLocks noGrp="1"/>
          </p:cNvSpPr>
          <p:nvPr>
            <p:ph type="pic" idx="1"/>
          </p:nvPr>
        </p:nvSpPr>
        <p:spPr>
          <a:xfrm>
            <a:off x="5183184" y="987423"/>
            <a:ext cx="6172200" cy="4873623"/>
          </a:xfrm>
        </p:spPr>
        <p:txBody>
          <a:bodyPr/>
          <a:lstStyle>
            <a:lvl1pPr marL="0" indent="0">
              <a:buNone/>
              <a:defRPr lang="de-DE" sz="3200"/>
            </a:lvl1pPr>
          </a:lstStyle>
          <a:p>
            <a:pPr lvl="0"/>
            <a:endParaRPr lang="de-DE"/>
          </a:p>
        </p:txBody>
      </p:sp>
      <p:sp>
        <p:nvSpPr>
          <p:cNvPr id="4" name="Text Placeholder 3"/>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endParaRPr lang="en-US"/>
          </a:p>
        </p:txBody>
      </p:sp>
      <p:sp>
        <p:nvSpPr>
          <p:cNvPr id="5" name="Date Placeholder 4"/>
          <p:cNvSpPr txBox="1">
            <a:spLocks noGrp="1"/>
          </p:cNvSpPr>
          <p:nvPr>
            <p:ph type="dt" sz="half" idx="7"/>
          </p:nvPr>
        </p:nvSpPr>
        <p:spPr/>
        <p:txBody>
          <a:bodyPr/>
          <a:lstStyle>
            <a:lvl1pPr>
              <a:defRPr/>
            </a:lvl1pPr>
          </a:lstStyle>
          <a:p>
            <a:pPr lvl="0"/>
            <a:fld id="{AAA1C3E1-99E0-461F-9716-95F536920D71}" type="datetime1">
              <a:rPr lang="de-DE"/>
            </a:fld>
            <a:endParaRPr lang="de-DE"/>
          </a:p>
        </p:txBody>
      </p:sp>
      <p:sp>
        <p:nvSpPr>
          <p:cNvPr id="6" name="Footer Placeholder 5"/>
          <p:cNvSpPr txBox="1">
            <a:spLocks noGrp="1"/>
          </p:cNvSpPr>
          <p:nvPr>
            <p:ph type="ftr" sz="quarter" idx="9"/>
          </p:nvPr>
        </p:nvSpPr>
        <p:spPr/>
        <p:txBody>
          <a:bodyPr/>
          <a:lstStyle>
            <a:lvl1pPr>
              <a:defRPr/>
            </a:lvl1pPr>
          </a:lstStyle>
          <a:p>
            <a:pPr lvl="0"/>
            <a:endParaRPr lang="de-DE"/>
          </a:p>
        </p:txBody>
      </p:sp>
      <p:sp>
        <p:nvSpPr>
          <p:cNvPr id="7" name="Slide Number Placeholder 6"/>
          <p:cNvSpPr txBox="1">
            <a:spLocks noGrp="1"/>
          </p:cNvSpPr>
          <p:nvPr>
            <p:ph type="sldNum" sz="quarter" idx="8"/>
          </p:nvPr>
        </p:nvSpPr>
        <p:spPr/>
        <p:txBody>
          <a:bodyPr/>
          <a:lstStyle>
            <a:lvl1pPr>
              <a:defRPr/>
            </a:lvl1pPr>
          </a:lstStyle>
          <a:p>
            <a:pPr lvl="0"/>
            <a:fld id="{90AE19BC-A68A-4B1E-9543-F5F8DB1ED582}" type="slidenum">
              <a:rPr/>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de-DE"/>
          </a:p>
        </p:txBody>
      </p:sp>
      <p:sp>
        <p:nvSpPr>
          <p:cNvPr id="3" name="Vertical Text Placeholder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4" name="Date Placeholder 3"/>
          <p:cNvSpPr txBox="1">
            <a:spLocks noGrp="1"/>
          </p:cNvSpPr>
          <p:nvPr>
            <p:ph type="dt" sz="half" idx="7"/>
          </p:nvPr>
        </p:nvSpPr>
        <p:spPr/>
        <p:txBody>
          <a:bodyPr/>
          <a:lstStyle>
            <a:lvl1pPr>
              <a:defRPr/>
            </a:lvl1pPr>
          </a:lstStyle>
          <a:p>
            <a:pPr lvl="0"/>
            <a:fld id="{BA8E0C2E-E93C-4A86-8206-61AC9B8C45DE}" type="datetime1">
              <a:rPr lang="de-DE"/>
            </a:fld>
            <a:endParaRPr lang="de-DE"/>
          </a:p>
        </p:txBody>
      </p:sp>
      <p:sp>
        <p:nvSpPr>
          <p:cNvPr id="5" name="Footer Placeholder 4"/>
          <p:cNvSpPr txBox="1">
            <a:spLocks noGrp="1"/>
          </p:cNvSpPr>
          <p:nvPr>
            <p:ph type="ftr" sz="quarter" idx="9"/>
          </p:nvPr>
        </p:nvSpPr>
        <p:spPr/>
        <p:txBody>
          <a:bodyPr/>
          <a:lstStyle>
            <a:lvl1pPr>
              <a:defRPr/>
            </a:lvl1pPr>
          </a:lstStyle>
          <a:p>
            <a:pPr lvl="0"/>
            <a:endParaRPr lang="de-DE"/>
          </a:p>
        </p:txBody>
      </p:sp>
      <p:sp>
        <p:nvSpPr>
          <p:cNvPr id="6" name="Slide Number Placeholder 5"/>
          <p:cNvSpPr txBox="1">
            <a:spLocks noGrp="1"/>
          </p:cNvSpPr>
          <p:nvPr>
            <p:ph type="sldNum" sz="quarter" idx="8"/>
          </p:nvPr>
        </p:nvSpPr>
        <p:spPr/>
        <p:txBody>
          <a:bodyPr/>
          <a:lstStyle>
            <a:lvl1pPr>
              <a:defRPr/>
            </a:lvl1pPr>
          </a:lstStyle>
          <a:p>
            <a:pPr lvl="0"/>
            <a:fld id="{6075314F-885E-44A1-933C-193E1773B39D}" type="slidenum">
              <a:rPr/>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de-DE"/>
          </a:p>
        </p:txBody>
      </p:sp>
      <p:sp>
        <p:nvSpPr>
          <p:cNvPr id="3" name="Vertical Text Placeholder 2"/>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4" name="Date Placeholder 3"/>
          <p:cNvSpPr txBox="1">
            <a:spLocks noGrp="1"/>
          </p:cNvSpPr>
          <p:nvPr>
            <p:ph type="dt" sz="half" idx="7"/>
          </p:nvPr>
        </p:nvSpPr>
        <p:spPr/>
        <p:txBody>
          <a:bodyPr/>
          <a:lstStyle>
            <a:lvl1pPr>
              <a:defRPr/>
            </a:lvl1pPr>
          </a:lstStyle>
          <a:p>
            <a:pPr lvl="0"/>
            <a:fld id="{3EEC6935-16FB-4936-9DEA-FFA85E66126C}" type="datetime1">
              <a:rPr lang="de-DE"/>
            </a:fld>
            <a:endParaRPr lang="de-DE"/>
          </a:p>
        </p:txBody>
      </p:sp>
      <p:sp>
        <p:nvSpPr>
          <p:cNvPr id="5" name="Footer Placeholder 4"/>
          <p:cNvSpPr txBox="1">
            <a:spLocks noGrp="1"/>
          </p:cNvSpPr>
          <p:nvPr>
            <p:ph type="ftr" sz="quarter" idx="9"/>
          </p:nvPr>
        </p:nvSpPr>
        <p:spPr/>
        <p:txBody>
          <a:bodyPr/>
          <a:lstStyle>
            <a:lvl1pPr>
              <a:defRPr/>
            </a:lvl1pPr>
          </a:lstStyle>
          <a:p>
            <a:pPr lvl="0"/>
            <a:endParaRPr lang="de-DE"/>
          </a:p>
        </p:txBody>
      </p:sp>
      <p:sp>
        <p:nvSpPr>
          <p:cNvPr id="6" name="Slide Number Placeholder 5"/>
          <p:cNvSpPr txBox="1">
            <a:spLocks noGrp="1"/>
          </p:cNvSpPr>
          <p:nvPr>
            <p:ph type="sldNum" sz="quarter" idx="8"/>
          </p:nvPr>
        </p:nvSpPr>
        <p:spPr/>
        <p:txBody>
          <a:bodyPr/>
          <a:lstStyle>
            <a:lvl1pPr>
              <a:defRPr/>
            </a:lvl1pPr>
          </a:lstStyle>
          <a:p>
            <a:pPr lvl="0"/>
            <a:fld id="{FD3F7995-1769-41FB-AD0D-90E0A2B30890}" type="slidenum">
              <a:rPr/>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de-DE"/>
          </a:p>
        </p:txBody>
      </p:sp>
      <p:sp>
        <p:nvSpPr>
          <p:cNvPr id="3" name="Text Placeholder 2"/>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de-DE"/>
          </a:p>
        </p:txBody>
      </p:sp>
      <p:sp>
        <p:nvSpPr>
          <p:cNvPr id="4" name="Date Placeholder 3"/>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defRPr lang="de-DE" sz="1200" b="0" i="0" u="none" strike="noStrike" kern="1200" cap="none" spc="0" baseline="0">
                <a:solidFill>
                  <a:srgbClr val="767676"/>
                </a:solidFill>
                <a:uFillTx/>
                <a:latin typeface="Aptos"/>
              </a:defRPr>
            </a:lvl1pPr>
          </a:lstStyle>
          <a:p>
            <a:pPr lvl="0"/>
            <a:fld id="{1F38B180-A957-4871-8378-9B6646BC07EA}" type="datetime1">
              <a:rPr lang="de-DE"/>
            </a:fld>
            <a:endParaRPr lang="de-DE"/>
          </a:p>
        </p:txBody>
      </p:sp>
      <p:sp>
        <p:nvSpPr>
          <p:cNvPr id="5" name="Footer Placeholder 4"/>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defRPr lang="de-DE" sz="1200" b="0" i="0" u="none" strike="noStrike" kern="1200" cap="none" spc="0" baseline="0">
                <a:solidFill>
                  <a:srgbClr val="767676"/>
                </a:solidFill>
                <a:uFillTx/>
                <a:latin typeface="Aptos"/>
              </a:defRPr>
            </a:lvl1pPr>
          </a:lstStyle>
          <a:p>
            <a:pPr lvl="0"/>
            <a:endParaRPr lang="de-DE"/>
          </a:p>
        </p:txBody>
      </p:sp>
      <p:sp>
        <p:nvSpPr>
          <p:cNvPr id="6" name="Slide Number Placeholder 5"/>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defRPr lang="de-DE" sz="1200" b="0" i="0" u="none" strike="noStrike" kern="1200" cap="none" spc="0" baseline="0">
                <a:solidFill>
                  <a:srgbClr val="767676"/>
                </a:solidFill>
                <a:uFillTx/>
                <a:latin typeface="Aptos"/>
              </a:defRPr>
            </a:lvl1pPr>
          </a:lstStyle>
          <a:p>
            <a:pPr lvl="0"/>
            <a:fld id="{4936295E-1EB8-4CD9-B763-4BC46C816F02}" type="slidenum">
              <a:rPr/>
            </a:fld>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defRPr lang="en-US"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anose="020B0604020202020204" pitchFamily="34"/>
        <a:buChar char="•"/>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anose="020B0604020202020204" pitchFamily="34"/>
        <a:buChar char="•"/>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anose="020B0604020202020204" pitchFamily="34"/>
        <a:buChar char="•"/>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anose="020B0604020202020204" pitchFamily="34"/>
        <a:buChar char="•"/>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anose="020B0604020202020204" pitchFamily="34"/>
        <a:buChar char="•"/>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70335" y="365129"/>
            <a:ext cx="12121661" cy="649763"/>
          </a:xfrm>
        </p:spPr>
        <p:txBody>
          <a:bodyPr anchorCtr="1"/>
          <a:lstStyle/>
          <a:p>
            <a:pPr lvl="0" algn="ctr"/>
            <a:r>
              <a:rPr lang="en-US" sz="4000">
                <a:latin typeface="Times New Roman" panose="02020603050405020304" pitchFamily="18"/>
                <a:cs typeface="Times New Roman" panose="02020603050405020304" pitchFamily="18"/>
              </a:rPr>
              <a:t>Evaluating Production Bottlenecks</a:t>
            </a:r>
            <a:endParaRPr lang="de-DE" sz="4000">
              <a:latin typeface="Times New Roman" panose="02020603050405020304" pitchFamily="18"/>
              <a:cs typeface="Times New Roman" panose="02020603050405020304" pitchFamily="18"/>
            </a:endParaRPr>
          </a:p>
        </p:txBody>
      </p:sp>
      <p:sp>
        <p:nvSpPr>
          <p:cNvPr id="3" name="Content Placeholder 2"/>
          <p:cNvSpPr txBox="1">
            <a:spLocks noGrp="1"/>
          </p:cNvSpPr>
          <p:nvPr>
            <p:ph idx="1"/>
          </p:nvPr>
        </p:nvSpPr>
        <p:spPr>
          <a:xfrm>
            <a:off x="0" y="1235948"/>
            <a:ext cx="6172200" cy="5622051"/>
          </a:xfrm>
        </p:spPr>
        <p:txBody>
          <a:bodyPr/>
          <a:lstStyle/>
          <a:p>
            <a:pPr marL="0" lvl="0" indent="0">
              <a:buNone/>
            </a:pPr>
            <a:endParaRPr lang="en-US"/>
          </a:p>
          <a:p>
            <a:pPr marL="0" lvl="0" indent="0">
              <a:buNone/>
            </a:pPr>
            <a:endParaRPr lang="en-US" sz="2400">
              <a:latin typeface="Times New Roman" panose="02020603050405020304" pitchFamily="18"/>
              <a:cs typeface="Times New Roman" panose="02020603050405020304" pitchFamily="18"/>
            </a:endParaRPr>
          </a:p>
          <a:p>
            <a:pPr marL="0" lvl="0" indent="0">
              <a:buNone/>
            </a:pPr>
            <a:endParaRPr lang="en-US" sz="2400">
              <a:latin typeface="Times New Roman" panose="02020603050405020304" pitchFamily="18"/>
              <a:cs typeface="Times New Roman" panose="02020603050405020304" pitchFamily="18"/>
            </a:endParaRPr>
          </a:p>
          <a:p>
            <a:pPr marL="0" lvl="0" indent="0">
              <a:buNone/>
            </a:pPr>
            <a:r>
              <a:rPr lang="en-US" sz="2400">
                <a:latin typeface="Times New Roman" panose="02020603050405020304" pitchFamily="18"/>
                <a:cs typeface="Times New Roman" panose="02020603050405020304" pitchFamily="18"/>
              </a:rPr>
              <a:t>Insights and Recommendations Through Downtime Analysis</a:t>
            </a:r>
            <a:endParaRPr lang="en-US" sz="2400">
              <a:latin typeface="Times New Roman" panose="02020603050405020304" pitchFamily="18"/>
              <a:cs typeface="Times New Roman" panose="02020603050405020304" pitchFamily="18"/>
            </a:endParaRPr>
          </a:p>
          <a:p>
            <a:pPr marL="0" lvl="0" indent="0">
              <a:buNone/>
            </a:pPr>
            <a:endParaRPr lang="en-US" sz="2400">
              <a:latin typeface="Times New Roman" panose="02020603050405020304" pitchFamily="18"/>
              <a:cs typeface="Times New Roman" panose="02020603050405020304" pitchFamily="18"/>
            </a:endParaRPr>
          </a:p>
          <a:p>
            <a:pPr marL="0" lvl="0" indent="0">
              <a:buNone/>
            </a:pPr>
            <a:endParaRPr lang="en-US" sz="2400">
              <a:latin typeface="Times New Roman" panose="02020603050405020304" pitchFamily="18"/>
              <a:cs typeface="Times New Roman" panose="02020603050405020304" pitchFamily="18"/>
            </a:endParaRPr>
          </a:p>
          <a:p>
            <a:pPr marL="0" lvl="0" indent="0">
              <a:buNone/>
            </a:pPr>
            <a:endParaRPr lang="en-US" sz="2400">
              <a:latin typeface="Times New Roman" panose="02020603050405020304" pitchFamily="18"/>
              <a:cs typeface="Times New Roman" panose="02020603050405020304" pitchFamily="18"/>
            </a:endParaRPr>
          </a:p>
          <a:p>
            <a:pPr marL="0" lvl="0" indent="0">
              <a:buNone/>
            </a:pPr>
            <a:endParaRPr lang="en-US" sz="2400">
              <a:latin typeface="Times New Roman" panose="02020603050405020304" pitchFamily="18"/>
              <a:cs typeface="Times New Roman" panose="02020603050405020304" pitchFamily="18"/>
            </a:endParaRPr>
          </a:p>
          <a:p>
            <a:pPr marL="0" lvl="0" indent="0">
              <a:buNone/>
            </a:pPr>
            <a:endParaRPr lang="en-US" sz="2400">
              <a:latin typeface="Times New Roman" panose="02020603050405020304" pitchFamily="18"/>
              <a:cs typeface="Times New Roman" panose="02020603050405020304" pitchFamily="18"/>
            </a:endParaRPr>
          </a:p>
          <a:p>
            <a:pPr marL="0" lvl="0" indent="0">
              <a:buNone/>
            </a:pPr>
            <a:r>
              <a:rPr lang="en-US" sz="2400">
                <a:latin typeface="Times New Roman" panose="02020603050405020304" pitchFamily="18"/>
                <a:cs typeface="Times New Roman" panose="02020603050405020304" pitchFamily="18"/>
              </a:rPr>
              <a:t>Presented by Collins Agyei</a:t>
            </a:r>
            <a:endParaRPr lang="de-DE" sz="2400">
              <a:latin typeface="Times New Roman" panose="02020603050405020304" pitchFamily="18"/>
              <a:cs typeface="Times New Roman" panose="02020603050405020304" pitchFamily="18"/>
            </a:endParaRPr>
          </a:p>
        </p:txBody>
      </p:sp>
      <p:pic>
        <p:nvPicPr>
          <p:cNvPr id="4" name="Content Placeholder 5"/>
          <p:cNvPicPr>
            <a:picLocks noGrp="1" noChangeAspect="1"/>
          </p:cNvPicPr>
          <p:nvPr>
            <p:ph idx="2"/>
          </p:nvPr>
        </p:nvPicPr>
        <p:blipFill>
          <a:blip r:embed="rId1"/>
          <a:stretch>
            <a:fillRect/>
          </a:stretch>
        </p:blipFill>
        <p:spPr>
          <a:xfrm>
            <a:off x="6172200" y="1014883"/>
            <a:ext cx="6019796" cy="5843116"/>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nchorCtr="1"/>
          <a:lstStyle/>
          <a:p>
            <a:pPr lvl="0" algn="ctr"/>
            <a:r>
              <a:rPr lang="en-US"/>
              <a:t>Key Performance Indicators</a:t>
            </a:r>
            <a:endParaRPr lang="de-DE"/>
          </a:p>
        </p:txBody>
      </p:sp>
      <p:sp>
        <p:nvSpPr>
          <p:cNvPr id="3" name="TextBox 9"/>
          <p:cNvSpPr txBox="1"/>
          <p:nvPr/>
        </p:nvSpPr>
        <p:spPr>
          <a:xfrm>
            <a:off x="383453" y="1951704"/>
            <a:ext cx="2340077" cy="1077218"/>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800" b="0" i="0" u="none" strike="noStrike" kern="1200" cap="none" spc="0" baseline="0">
                <a:solidFill>
                  <a:srgbClr val="000000"/>
                </a:solidFill>
                <a:uFillTx/>
                <a:latin typeface="ADLaM Display" pitchFamily="2"/>
                <a:ea typeface="ADLaM Display" pitchFamily="2"/>
                <a:cs typeface="ADLaM Display" pitchFamily="2"/>
              </a:rPr>
              <a:t>645</a:t>
            </a:r>
            <a:endParaRPr lang="en-US" sz="2800" b="0" i="0" u="none" strike="noStrike" kern="1200" cap="none" spc="0" baseline="0">
              <a:solidFill>
                <a:srgbClr val="000000"/>
              </a:solidFill>
              <a:uFillTx/>
              <a:latin typeface="ADLaM Display" pitchFamily="2"/>
              <a:ea typeface="ADLaM Display" pitchFamily="2"/>
              <a:cs typeface="ADLaM Display" pitchFamily="2"/>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panose="02020603050405020304" pitchFamily="18"/>
                <a:cs typeface="Times New Roman" panose="02020603050405020304" pitchFamily="18"/>
              </a:rPr>
              <a:t>Batches Produced</a:t>
            </a:r>
            <a:endParaRPr lang="en-US" sz="18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 Total production runs.</a:t>
            </a:r>
            <a:endParaRPr lang="de-DE" sz="1800" b="0" i="0" u="none" strike="noStrike" kern="1200" cap="none" spc="0" baseline="0">
              <a:solidFill>
                <a:srgbClr val="000000"/>
              </a:solidFill>
              <a:uFillTx/>
              <a:latin typeface="Times New Roman" panose="02020603050405020304" pitchFamily="18"/>
              <a:cs typeface="Times New Roman" panose="02020603050405020304" pitchFamily="18"/>
            </a:endParaRPr>
          </a:p>
        </p:txBody>
      </p:sp>
      <p:sp>
        <p:nvSpPr>
          <p:cNvPr id="4" name="TextBox 10"/>
          <p:cNvSpPr txBox="1"/>
          <p:nvPr/>
        </p:nvSpPr>
        <p:spPr>
          <a:xfrm>
            <a:off x="3628101" y="1951704"/>
            <a:ext cx="3136492" cy="1354217"/>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800" b="0" i="0" u="none" strike="noStrike" kern="1200" cap="none" spc="0" baseline="0">
                <a:solidFill>
                  <a:srgbClr val="000000"/>
                </a:solidFill>
                <a:uFillTx/>
                <a:latin typeface="ADLaM Display" pitchFamily="2"/>
                <a:ea typeface="ADLaM Display" pitchFamily="2"/>
                <a:cs typeface="ADLaM Display" pitchFamily="2"/>
              </a:rPr>
              <a:t>363</a:t>
            </a:r>
            <a:endParaRPr lang="en-US" sz="2800" b="0" i="0" u="none" strike="noStrike" kern="1200" cap="none" spc="0" baseline="0">
              <a:solidFill>
                <a:srgbClr val="000000"/>
              </a:solidFill>
              <a:uFillTx/>
              <a:latin typeface="ADLaM Display" pitchFamily="2"/>
              <a:ea typeface="ADLaM Display" pitchFamily="2"/>
              <a:cs typeface="ADLaM Display" pitchFamily="2"/>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panose="02020603050405020304" pitchFamily="18"/>
                <a:ea typeface="ADLaM Display" pitchFamily="2"/>
                <a:cs typeface="Times New Roman" panose="02020603050405020304" pitchFamily="18"/>
              </a:rPr>
              <a:t>           Delayed Batches</a:t>
            </a:r>
            <a:endParaRPr lang="en-US" sz="1800" b="1" i="0" u="none" strike="noStrike" kern="1200" cap="none" spc="0" baseline="0">
              <a:solidFill>
                <a:srgbClr val="000000"/>
              </a:solidFill>
              <a:uFillTx/>
              <a:latin typeface="Times New Roman" panose="02020603050405020304" pitchFamily="18"/>
              <a:ea typeface="ADLaM Display" pitchFamily="2"/>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          </a:t>
            </a: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Batches experiencing </a:t>
            </a:r>
            <a:endParaRPr lang="en-US" sz="18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            production delays.</a:t>
            </a:r>
            <a:endParaRPr lang="de-DE" sz="1800" b="0" i="0" u="none" strike="noStrike" kern="1200" cap="none" spc="0" baseline="0">
              <a:solidFill>
                <a:srgbClr val="000000"/>
              </a:solidFill>
              <a:uFillTx/>
              <a:latin typeface="Times New Roman" panose="02020603050405020304" pitchFamily="18"/>
              <a:cs typeface="Times New Roman" panose="02020603050405020304" pitchFamily="18"/>
            </a:endParaRPr>
          </a:p>
        </p:txBody>
      </p:sp>
      <p:sp>
        <p:nvSpPr>
          <p:cNvPr id="5" name="TextBox 11"/>
          <p:cNvSpPr txBox="1"/>
          <p:nvPr/>
        </p:nvSpPr>
        <p:spPr>
          <a:xfrm>
            <a:off x="7836307" y="2074782"/>
            <a:ext cx="2812026" cy="1354217"/>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800" b="0" i="0" u="none" strike="noStrike" kern="1200" cap="none" spc="0" baseline="0">
                <a:solidFill>
                  <a:srgbClr val="000000"/>
                </a:solidFill>
                <a:uFillTx/>
                <a:latin typeface="ADLaM Display" pitchFamily="2"/>
                <a:ea typeface="ADLaM Display" pitchFamily="2"/>
                <a:cs typeface="ADLaM Display" pitchFamily="2"/>
              </a:rPr>
              <a:t>22</a:t>
            </a:r>
            <a:endParaRPr lang="en-US" sz="2800" b="0" i="0" u="none" strike="noStrike" kern="1200" cap="none" spc="0" baseline="0">
              <a:solidFill>
                <a:srgbClr val="000000"/>
              </a:solidFill>
              <a:uFillTx/>
              <a:latin typeface="ADLaM Display" pitchFamily="2"/>
              <a:ea typeface="ADLaM Display" pitchFamily="2"/>
              <a:cs typeface="ADLaM Display" pitchFamily="2"/>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               </a:t>
            </a:r>
            <a:r>
              <a:rPr lang="en-US" sz="1800" b="1" i="0" u="none" strike="noStrike" kern="1200" cap="none" spc="0" baseline="0">
                <a:solidFill>
                  <a:srgbClr val="000000"/>
                </a:solidFill>
                <a:uFillTx/>
                <a:latin typeface="Times New Roman" panose="02020603050405020304" pitchFamily="18"/>
                <a:cs typeface="Times New Roman" panose="02020603050405020304" pitchFamily="18"/>
              </a:rPr>
              <a:t>Days Lost</a:t>
            </a:r>
            <a:endParaRPr lang="en-US" sz="18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          </a:t>
            </a: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Total days lost due to</a:t>
            </a:r>
            <a:endParaRPr lang="en-US" sz="18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                 downtime.</a:t>
            </a:r>
            <a:endParaRPr lang="de-DE" sz="1800" b="0" i="0" u="none" strike="noStrike" kern="1200" cap="none" spc="0" baseline="0">
              <a:solidFill>
                <a:srgbClr val="000000"/>
              </a:solidFill>
              <a:uFillTx/>
              <a:latin typeface="Times New Roman" panose="02020603050405020304" pitchFamily="18"/>
              <a:cs typeface="Times New Roman" panose="02020603050405020304" pitchFamily="18"/>
            </a:endParaRPr>
          </a:p>
        </p:txBody>
      </p:sp>
      <p:sp>
        <p:nvSpPr>
          <p:cNvPr id="6" name="TextBox 12"/>
          <p:cNvSpPr txBox="1"/>
          <p:nvPr/>
        </p:nvSpPr>
        <p:spPr>
          <a:xfrm>
            <a:off x="1828800" y="4311441"/>
            <a:ext cx="2408904" cy="1354217"/>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800" b="0" i="0" u="none" strike="noStrike" kern="1200" cap="none" spc="0" baseline="0">
                <a:solidFill>
                  <a:srgbClr val="000000"/>
                </a:solidFill>
                <a:uFillTx/>
                <a:latin typeface="ADLaM Display" pitchFamily="2"/>
                <a:ea typeface="ADLaM Display" pitchFamily="2"/>
                <a:cs typeface="ADLaM Display" pitchFamily="2"/>
              </a:rPr>
              <a:t>885</a:t>
            </a:r>
            <a:endParaRPr lang="en-US" sz="2800" b="0" i="0" u="none" strike="noStrike" kern="1200" cap="none" spc="0" baseline="0">
              <a:solidFill>
                <a:srgbClr val="000000"/>
              </a:solidFill>
              <a:uFillTx/>
              <a:latin typeface="ADLaM Display" pitchFamily="2"/>
              <a:ea typeface="ADLaM Display" pitchFamily="2"/>
              <a:cs typeface="ADLaM Display" pitchFamily="2"/>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panose="02020603050405020304" pitchFamily="18"/>
                <a:cs typeface="Times New Roman" panose="02020603050405020304" pitchFamily="18"/>
              </a:rPr>
              <a:t>Downtime Factors</a:t>
            </a:r>
            <a:endParaRPr lang="en-US" sz="18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   </a:t>
            </a: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Total instances of  contributing factors.</a:t>
            </a:r>
            <a:endParaRPr lang="de-DE" sz="1800" b="0" i="0" u="none" strike="noStrike" kern="1200" cap="none" spc="0" baseline="0">
              <a:solidFill>
                <a:srgbClr val="000000"/>
              </a:solidFill>
              <a:uFillTx/>
              <a:latin typeface="Times New Roman" panose="02020603050405020304" pitchFamily="18"/>
              <a:cs typeface="Times New Roman" panose="02020603050405020304" pitchFamily="18"/>
            </a:endParaRPr>
          </a:p>
        </p:txBody>
      </p:sp>
      <p:sp>
        <p:nvSpPr>
          <p:cNvPr id="7" name="TextBox 13"/>
          <p:cNvSpPr txBox="1"/>
          <p:nvPr/>
        </p:nvSpPr>
        <p:spPr>
          <a:xfrm>
            <a:off x="4694904" y="4311441"/>
            <a:ext cx="3426540" cy="1354217"/>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800" b="0" i="0" u="none" strike="noStrike" kern="1200" cap="none" spc="0" baseline="0">
                <a:solidFill>
                  <a:srgbClr val="000000"/>
                </a:solidFill>
                <a:uFillTx/>
                <a:latin typeface="ADLaM Display" pitchFamily="2"/>
                <a:ea typeface="ADLaM Display" pitchFamily="2"/>
                <a:cs typeface="ADLaM Display" pitchFamily="2"/>
              </a:rPr>
              <a:t>13</a:t>
            </a:r>
            <a:endParaRPr lang="en-US" sz="2800" b="0" i="0" u="none" strike="noStrike" kern="1200" cap="none" spc="0" baseline="0">
              <a:solidFill>
                <a:srgbClr val="000000"/>
              </a:solidFill>
              <a:uFillTx/>
              <a:latin typeface="ADLaM Display" pitchFamily="2"/>
              <a:ea typeface="ADLaM Display" pitchFamily="2"/>
              <a:cs typeface="ADLaM Display" pitchFamily="2"/>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panose="02020603050405020304" pitchFamily="18"/>
                <a:cs typeface="Times New Roman" panose="02020603050405020304" pitchFamily="18"/>
              </a:rPr>
              <a:t>       Unique Downtime Factors</a:t>
            </a:r>
            <a:endParaRPr lang="en-US" sz="18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Distinct instances of contributing </a:t>
            </a:r>
            <a:endParaRPr lang="en-US" sz="18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                     factors.</a:t>
            </a:r>
            <a:endParaRPr lang="de-DE" sz="1800" b="0" i="0" u="none" strike="noStrike" kern="1200" cap="none" spc="0" baseline="0">
              <a:solidFill>
                <a:srgbClr val="000000"/>
              </a:solidFill>
              <a:uFillTx/>
              <a:latin typeface="Times New Roman" panose="02020603050405020304" pitchFamily="18"/>
              <a:cs typeface="Times New Roman" panose="02020603050405020304" pitchFamily="18"/>
            </a:endParaRPr>
          </a:p>
        </p:txBody>
      </p:sp>
      <p:sp>
        <p:nvSpPr>
          <p:cNvPr id="8" name="TextBox 14"/>
          <p:cNvSpPr txBox="1"/>
          <p:nvPr/>
        </p:nvSpPr>
        <p:spPr>
          <a:xfrm>
            <a:off x="9281653" y="4311441"/>
            <a:ext cx="2812026" cy="1908215"/>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800" b="0" i="0" u="none" strike="noStrike" kern="1200" cap="none" spc="0" baseline="0">
                <a:solidFill>
                  <a:srgbClr val="000000"/>
                </a:solidFill>
                <a:uFillTx/>
                <a:latin typeface="ADLaM Display" pitchFamily="2"/>
                <a:ea typeface="ADLaM Display" pitchFamily="2"/>
                <a:cs typeface="ADLaM Display" pitchFamily="2"/>
              </a:rPr>
              <a:t>4</a:t>
            </a:r>
            <a:endParaRPr lang="en-US" sz="2800" b="0" i="0" u="none" strike="noStrike" kern="1200" cap="none" spc="0" baseline="0">
              <a:solidFill>
                <a:srgbClr val="000000"/>
              </a:solidFill>
              <a:uFillTx/>
              <a:latin typeface="ADLaM Display" pitchFamily="2"/>
              <a:ea typeface="ADLaM Display" pitchFamily="2"/>
              <a:cs typeface="ADLaM Display" pitchFamily="2"/>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panose="02020603050405020304" pitchFamily="18"/>
                <a:cs typeface="Times New Roman" panose="02020603050405020304" pitchFamily="18"/>
              </a:rPr>
              <a:t>Max Factors Per Batch</a:t>
            </a:r>
            <a:endParaRPr lang="en-US" sz="18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Maximum instances of  contributing factors per</a:t>
            </a:r>
            <a:endParaRPr lang="en-US" sz="18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cs typeface="Times New Roman" panose="02020603050405020304" pitchFamily="18"/>
              </a:rPr>
              <a:t>              batch.    </a:t>
            </a:r>
            <a:endParaRPr lang="en-US" sz="18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de-DE" sz="1800" b="1" i="0" u="none" strike="noStrike" kern="1200" cap="none" spc="0" baseline="0">
              <a:solidFill>
                <a:srgbClr val="000000"/>
              </a:solidFill>
              <a:uFillTx/>
              <a:latin typeface="Times New Roman" panose="02020603050405020304" pitchFamily="18"/>
              <a:cs typeface="Times New Roman" panose="02020603050405020304" pitchFamily="1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838203" y="27075"/>
            <a:ext cx="10515600" cy="897163"/>
          </a:xfrm>
        </p:spPr>
        <p:txBody>
          <a:bodyPr anchorCtr="1"/>
          <a:lstStyle/>
          <a:p>
            <a:pPr lvl="0" algn="ctr"/>
            <a:r>
              <a:rPr lang="en-US" sz="4000">
                <a:latin typeface="Times New Roman" panose="02020603050405020304" pitchFamily="18"/>
                <a:cs typeface="Times New Roman" panose="02020603050405020304" pitchFamily="18"/>
              </a:rPr>
              <a:t>Product Downtime Frequency</a:t>
            </a:r>
            <a:endParaRPr lang="de-DE" sz="4000">
              <a:latin typeface="Times New Roman" panose="02020603050405020304" pitchFamily="18"/>
              <a:cs typeface="Times New Roman" panose="02020603050405020304" pitchFamily="18"/>
            </a:endParaRPr>
          </a:p>
        </p:txBody>
      </p:sp>
      <p:sp>
        <p:nvSpPr>
          <p:cNvPr id="4" name="TextBox 7"/>
          <p:cNvSpPr txBox="1"/>
          <p:nvPr/>
        </p:nvSpPr>
        <p:spPr>
          <a:xfrm>
            <a:off x="589934" y="2703871"/>
            <a:ext cx="5963268" cy="2554540"/>
          </a:xfrm>
          <a:prstGeom prst="rect">
            <a:avLst/>
          </a:prstGeom>
          <a:noFill/>
          <a:ln cap="flat">
            <a:noFill/>
          </a:ln>
        </p:spPr>
        <p:txBody>
          <a:bodyPr vert="horz" wrap="square" lIns="91440" tIns="45720" rIns="91440" bIns="45720" anchor="t" anchorCtr="0" compatLnSpc="1">
            <a:spAutoFit/>
          </a:bodyPr>
          <a:lstStyle/>
          <a:p>
            <a:pPr marL="342900" marR="0" lvl="0" indent="-34290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GreenFoam Hand Soap recorded the highest downtime frequency (323), indicating it was the most affected product. </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342900" marR="0" lvl="0" indent="-34290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Cleaning and Sanitation (86) was the leading cause of downtime, followed by Raw Material Shortage (77) and Scheduling and Coordination issues (76)</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342900" marR="0" lvl="0" indent="-34290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Sensor/PLC/Software Issues (53) were the least frequent cause of downtime.</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342900" marR="0" lvl="0" indent="-34290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Reducing these key downtime factors can improve production efficiency and minimize operational delays.</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just"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de-DE" sz="1600" b="0" i="0" u="none" strike="noStrike" kern="1200" cap="none" spc="0" baseline="0">
              <a:solidFill>
                <a:srgbClr val="000000"/>
              </a:solidFill>
              <a:uFillTx/>
              <a:latin typeface="Times New Roman" panose="02020603050405020304" pitchFamily="18"/>
              <a:cs typeface="Times New Roman" panose="02020603050405020304" pitchFamily="18"/>
            </a:endParaRPr>
          </a:p>
        </p:txBody>
      </p:sp>
      <p:pic>
        <p:nvPicPr>
          <p:cNvPr id="12" name="Content Placeholder 11"/>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553203" y="924238"/>
            <a:ext cx="5520810" cy="59066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838203" y="365129"/>
            <a:ext cx="10515600" cy="844238"/>
          </a:xfrm>
        </p:spPr>
        <p:txBody>
          <a:bodyPr anchorCtr="1"/>
          <a:lstStyle/>
          <a:p>
            <a:pPr lvl="0" algn="ctr"/>
            <a:r>
              <a:rPr lang="en-US" sz="4000">
                <a:latin typeface="Times New Roman" panose="02020603050405020304" pitchFamily="18"/>
                <a:cs typeface="Times New Roman" panose="02020603050405020304" pitchFamily="18"/>
              </a:rPr>
              <a:t>The Root Causes of Downtime</a:t>
            </a:r>
            <a:endParaRPr lang="de-DE" sz="4000">
              <a:latin typeface="Times New Roman" panose="02020603050405020304" pitchFamily="18"/>
              <a:cs typeface="Times New Roman" panose="02020603050405020304" pitchFamily="18"/>
            </a:endParaRPr>
          </a:p>
        </p:txBody>
      </p:sp>
      <p:graphicFrame>
        <p:nvGraphicFramePr>
          <p:cNvPr id="3" name="Content Placeholder 6"/>
          <p:cNvGraphicFramePr>
            <a:graphicFrameLocks noGrp="1"/>
          </p:cNvGraphicFramePr>
          <p:nvPr>
            <p:ph idx="1"/>
          </p:nvPr>
        </p:nvGraphicFramePr>
        <p:xfrm>
          <a:off x="6862919" y="1661647"/>
          <a:ext cx="4490883" cy="3805083"/>
        </p:xfrm>
        <a:graphic>
          <a:graphicData uri="http://schemas.openxmlformats.org/drawingml/2006/chart">
            <c:chart xmlns:c="http://schemas.openxmlformats.org/drawingml/2006/chart" xmlns:r="http://schemas.openxmlformats.org/officeDocument/2006/relationships" r:id="rId1"/>
          </a:graphicData>
        </a:graphic>
      </p:graphicFrame>
      <p:sp>
        <p:nvSpPr>
          <p:cNvPr id="4" name="TextBox 8"/>
          <p:cNvSpPr txBox="1"/>
          <p:nvPr/>
        </p:nvSpPr>
        <p:spPr>
          <a:xfrm>
            <a:off x="757086" y="1964698"/>
            <a:ext cx="6125492" cy="323165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000" b="1" i="0" u="none" strike="noStrike" kern="1200" cap="none" spc="0" baseline="0">
                <a:solidFill>
                  <a:srgbClr val="000000"/>
                </a:solidFill>
                <a:uFillTx/>
                <a:latin typeface="Times New Roman" panose="02020603050405020304" pitchFamily="18"/>
                <a:cs typeface="Times New Roman" panose="02020603050405020304" pitchFamily="18"/>
              </a:rPr>
              <a:t>Operator Factors</a:t>
            </a:r>
            <a:endParaRPr lang="en-US" sz="20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Operator errors accounted for 31% of total downtime, indicating that a smaller proportion of production interruptions resulted from operator mistakes and human error.</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000" b="1" i="0" u="none" strike="noStrike" kern="1200" cap="none" spc="0" baseline="0">
                <a:solidFill>
                  <a:srgbClr val="000000"/>
                </a:solidFill>
                <a:uFillTx/>
                <a:latin typeface="Times New Roman" panose="02020603050405020304" pitchFamily="18"/>
                <a:cs typeface="Times New Roman" panose="02020603050405020304" pitchFamily="18"/>
              </a:rPr>
              <a:t>Non-Operator Factors</a:t>
            </a:r>
            <a:endParaRPr lang="en-US" sz="20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342900" marR="0" lvl="0" indent="-34290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endParaRPr lang="en-US" sz="20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342900" marR="0" lvl="0" indent="-34290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Non-operator errors accounted for 69% of total downtime, indicating that most production interruptions were caused by machine breakdowns, raw material shortages, cleaning activities, and scheduling issues.</a:t>
            </a:r>
            <a:endParaRPr lang="de-DE" sz="1600" b="1" i="0" u="none" strike="noStrike" kern="1200" cap="none" spc="0" baseline="0">
              <a:solidFill>
                <a:srgbClr val="000000"/>
              </a:solidFill>
              <a:uFillTx/>
              <a:latin typeface="Times New Roman" panose="02020603050405020304" pitchFamily="18"/>
              <a:cs typeface="Times New Roman" panose="02020603050405020304" pitchFamily="1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838203" y="98325"/>
            <a:ext cx="10515600" cy="904570"/>
          </a:xfrm>
        </p:spPr>
        <p:txBody>
          <a:bodyPr anchorCtr="1"/>
          <a:lstStyle/>
          <a:p>
            <a:pPr lvl="0" algn="ctr"/>
            <a:r>
              <a:rPr lang="en-US" sz="4000">
                <a:latin typeface="Times New Roman" panose="02020603050405020304" pitchFamily="18"/>
                <a:cs typeface="Times New Roman" panose="02020603050405020304" pitchFamily="18"/>
              </a:rPr>
              <a:t>Downtime Trends (March – August 2025)</a:t>
            </a:r>
            <a:endParaRPr lang="de-DE" sz="4000">
              <a:latin typeface="Times New Roman" panose="02020603050405020304" pitchFamily="18"/>
              <a:cs typeface="Times New Roman" panose="02020603050405020304" pitchFamily="18"/>
            </a:endParaRPr>
          </a:p>
        </p:txBody>
      </p:sp>
      <p:pic>
        <p:nvPicPr>
          <p:cNvPr id="3" name="Content Placeholder 13" descr="A graph with a blue line&#10;&#10;AI-generated content may be incorrect."/>
          <p:cNvPicPr>
            <a:picLocks noGrp="1" noChangeAspect="1"/>
          </p:cNvPicPr>
          <p:nvPr>
            <p:ph idx="1"/>
          </p:nvPr>
        </p:nvPicPr>
        <p:blipFill>
          <a:blip r:embed="rId1"/>
          <a:stretch>
            <a:fillRect/>
          </a:stretch>
        </p:blipFill>
        <p:spPr>
          <a:xfrm>
            <a:off x="6853080" y="1450759"/>
            <a:ext cx="5102946" cy="4664903"/>
          </a:xfrm>
        </p:spPr>
      </p:pic>
      <p:sp>
        <p:nvSpPr>
          <p:cNvPr id="4" name="TextBox 15"/>
          <p:cNvSpPr txBox="1"/>
          <p:nvPr/>
        </p:nvSpPr>
        <p:spPr>
          <a:xfrm>
            <a:off x="1007805" y="1450759"/>
            <a:ext cx="5545397" cy="304699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Downtime increased sharply in April, declined steadily until July, and rose again in August.</a:t>
            </a:r>
            <a:endParaRPr lang="en-US" sz="16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US" sz="1600" b="1"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March:</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Recorded the lowest downtime during the six-month period.</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April:</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Downtime peaked, indicating a significant increase in production disruptions.</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May–July: </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Downtime gradually declined, suggesting improvements in operational performance.</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August:</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Downtime increased again, indicating that production challenges re-emerged.</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endParaRPr lang="de-DE" sz="1600" b="1" i="0" u="none" strike="noStrike" kern="1200" cap="none" spc="0" baseline="0">
              <a:solidFill>
                <a:srgbClr val="000000"/>
              </a:solidFill>
              <a:uFillTx/>
              <a:latin typeface="Times New Roman" panose="02020603050405020304" pitchFamily="18"/>
              <a:cs typeface="Times New Roman" panose="02020603050405020304" pitchFamily="1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838203" y="98325"/>
            <a:ext cx="10515600" cy="904570"/>
          </a:xfrm>
        </p:spPr>
        <p:txBody>
          <a:bodyPr anchorCtr="1"/>
          <a:lstStyle/>
          <a:p>
            <a:pPr lvl="0" algn="ctr"/>
            <a:r>
              <a:rPr lang="en-US" sz="4000">
                <a:latin typeface="Times New Roman" panose="02020603050405020304" pitchFamily="18"/>
                <a:cs typeface="Times New Roman" panose="02020603050405020304" pitchFamily="18"/>
              </a:rPr>
              <a:t>Consistent Downtime Causes</a:t>
            </a:r>
            <a:endParaRPr lang="de-DE" sz="4000">
              <a:latin typeface="Times New Roman" panose="02020603050405020304" pitchFamily="18"/>
              <a:cs typeface="Times New Roman" panose="02020603050405020304" pitchFamily="18"/>
            </a:endParaRPr>
          </a:p>
        </p:txBody>
      </p:sp>
      <p:sp>
        <p:nvSpPr>
          <p:cNvPr id="4" name="TextBox 7"/>
          <p:cNvSpPr txBox="1"/>
          <p:nvPr/>
        </p:nvSpPr>
        <p:spPr>
          <a:xfrm>
            <a:off x="629262" y="1429664"/>
            <a:ext cx="5923931" cy="3293211"/>
          </a:xfrm>
          <a:prstGeom prst="rect">
            <a:avLst/>
          </a:prstGeom>
          <a:noFill/>
          <a:ln cap="flat">
            <a:noFill/>
          </a:ln>
        </p:spPr>
        <p:txBody>
          <a:bodyPr vert="horz" wrap="square" lIns="91440" tIns="45720" rIns="91440" bIns="45720" anchor="t" anchorCtr="0" compatLnSpc="1">
            <a:spAutoFit/>
          </a:bodyPr>
          <a:lstStyle/>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Times New Roman" panose="02020603050405020304" pitchFamily="18"/>
                <a:cs typeface="Times New Roman" panose="02020603050405020304" pitchFamily="18"/>
              </a:rPr>
              <a:t>Cleaning/Sanitation</a:t>
            </a:r>
            <a:endParaRPr lang="en-US"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Times New Roman" panose="02020603050405020304" pitchFamily="18"/>
                <a:cs typeface="Times New Roman" panose="02020603050405020304" pitchFamily="18"/>
              </a:rPr>
              <a:t> Material Shortage </a:t>
            </a:r>
            <a:endParaRPr lang="en-US"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Times New Roman" panose="02020603050405020304" pitchFamily="18"/>
                <a:cs typeface="Times New Roman" panose="02020603050405020304" pitchFamily="18"/>
              </a:rPr>
              <a:t> Scheduling/Coordination Delay </a:t>
            </a:r>
            <a:endParaRPr lang="en-US"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Times New Roman" panose="02020603050405020304" pitchFamily="18"/>
                <a:cs typeface="Times New Roman" panose="02020603050405020304" pitchFamily="18"/>
              </a:rPr>
              <a:t>Machine Breakdown </a:t>
            </a:r>
            <a:endParaRPr lang="en-US"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Times New Roman" panose="02020603050405020304" pitchFamily="18"/>
                <a:cs typeface="Times New Roman" panose="02020603050405020304" pitchFamily="18"/>
              </a:rPr>
              <a:t>Safety Lockout </a:t>
            </a:r>
            <a:endParaRPr lang="en-US"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a:p>
            <a:pPr marL="285750" marR="0" lvl="0" indent="-285750" algn="l"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endParaRPr lang="en-US"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a:p>
            <a:pPr marL="0" marR="0" lvl="0" indent="0" algn="just"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Times New Roman" panose="02020603050405020304" pitchFamily="18"/>
                <a:cs typeface="Times New Roman" panose="02020603050405020304" pitchFamily="18"/>
              </a:rPr>
              <a:t>Cleaning and sanitation was the most frequent cause of downtime (86 occurrences).Raw material shortages, scheduling issues, and machine breakdowns consistently contributed to production downtime, with 77, 76, and 75 occurrences, respectively. These findings indicate that operational processes and equipment reliability were the primary drivers of production interruptions.</a:t>
            </a:r>
            <a:endParaRPr lang="en-US"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de-DE" sz="1600" b="0" i="0" u="none" strike="noStrike" kern="1200" cap="none" spc="0" baseline="0" dirty="0">
              <a:solidFill>
                <a:srgbClr val="000000"/>
              </a:solidFill>
              <a:uFillTx/>
              <a:latin typeface="Times New Roman" panose="02020603050405020304" pitchFamily="18"/>
              <a:cs typeface="Times New Roman" panose="02020603050405020304" pitchFamily="18"/>
            </a:endParaRPr>
          </a:p>
        </p:txBody>
      </p:sp>
      <p:pic>
        <p:nvPicPr>
          <p:cNvPr id="8" name="Content Placeholder 7"/>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7055353" y="1002895"/>
            <a:ext cx="4704028" cy="53487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245809" y="113074"/>
            <a:ext cx="11107994" cy="732507"/>
          </a:xfrm>
        </p:spPr>
        <p:txBody>
          <a:bodyPr anchorCtr="1"/>
          <a:lstStyle/>
          <a:p>
            <a:pPr lvl="0" algn="ctr"/>
            <a:r>
              <a:rPr lang="en-US" sz="4000">
                <a:latin typeface="Times New Roman" panose="02020603050405020304" pitchFamily="18"/>
                <a:cs typeface="Times New Roman" panose="02020603050405020304" pitchFamily="18"/>
              </a:rPr>
              <a:t>Operator Downtime</a:t>
            </a:r>
            <a:endParaRPr lang="de-DE" sz="4000">
              <a:latin typeface="Times New Roman" panose="02020603050405020304" pitchFamily="18"/>
              <a:cs typeface="Times New Roman" panose="02020603050405020304" pitchFamily="18"/>
            </a:endParaRPr>
          </a:p>
        </p:txBody>
      </p:sp>
      <p:pic>
        <p:nvPicPr>
          <p:cNvPr id="3" name="Content Placeholder 15" descr="A graph of a number of people&#10;&#10;AI-generated content may be incorrect."/>
          <p:cNvPicPr>
            <a:picLocks noGrp="1" noChangeAspect="1"/>
          </p:cNvPicPr>
          <p:nvPr>
            <p:ph idx="1"/>
          </p:nvPr>
        </p:nvPicPr>
        <p:blipFill>
          <a:blip r:embed="rId1"/>
          <a:stretch>
            <a:fillRect/>
          </a:stretch>
        </p:blipFill>
        <p:spPr>
          <a:xfrm>
            <a:off x="6617110" y="2074599"/>
            <a:ext cx="3746086" cy="3578943"/>
          </a:xfrm>
        </p:spPr>
      </p:pic>
      <p:pic>
        <p:nvPicPr>
          <p:cNvPr id="4" name="Content Placeholder 13" descr="A graph of number and number&#10;&#10;AI-generated content may be incorrect."/>
          <p:cNvPicPr>
            <a:picLocks noGrp="1" noChangeAspect="1"/>
          </p:cNvPicPr>
          <p:nvPr>
            <p:ph idx="2"/>
          </p:nvPr>
        </p:nvPicPr>
        <p:blipFill>
          <a:blip r:embed="rId2"/>
          <a:stretch>
            <a:fillRect/>
          </a:stretch>
        </p:blipFill>
        <p:spPr>
          <a:xfrm>
            <a:off x="2349907" y="3578943"/>
            <a:ext cx="3824752" cy="3165991"/>
          </a:xfrm>
        </p:spPr>
      </p:pic>
      <p:sp>
        <p:nvSpPr>
          <p:cNvPr id="5" name="TextBox 17"/>
          <p:cNvSpPr txBox="1"/>
          <p:nvPr/>
        </p:nvSpPr>
        <p:spPr>
          <a:xfrm>
            <a:off x="245809" y="956380"/>
            <a:ext cx="5673211" cy="3293211"/>
          </a:xfrm>
          <a:prstGeom prst="rect">
            <a:avLst/>
          </a:prstGeom>
          <a:noFill/>
          <a:ln cap="flat">
            <a:noFill/>
          </a:ln>
        </p:spPr>
        <p:txBody>
          <a:bodyPr vert="horz" wrap="square" lIns="91440" tIns="45720" rIns="91440" bIns="45720" anchor="t" anchorCtr="0" compatLnSpc="1">
            <a:spAutoFit/>
          </a:bodyPr>
          <a:lstStyle/>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Operators with higher downtime frequencies were likely affected by the same key operational issues identified earlier, including machine breakdowns, raw material shortages, cleaning/sanitation, and scheduling delays.</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Paul</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recorded the highest downtime frequency, followed by </a:t>
            </a: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James</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and </a:t>
            </a: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Emily</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indicating they experienced the most downtime events.</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Although </a:t>
            </a: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Paul</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had the highest number of downtime events, </a:t>
            </a: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Linda</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recorded the highest percentage of delayed batches, followed by </a:t>
            </a: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Sophia</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and </a:t>
            </a:r>
            <a:r>
              <a:rPr lang="en-US" sz="1600" b="1" i="0" u="none" strike="noStrike" kern="1200" cap="none" spc="0" baseline="0">
                <a:solidFill>
                  <a:srgbClr val="000000"/>
                </a:solidFill>
                <a:uFillTx/>
                <a:latin typeface="Times New Roman" panose="02020603050405020304" pitchFamily="18"/>
                <a:cs typeface="Times New Roman" panose="02020603050405020304" pitchFamily="18"/>
              </a:rPr>
              <a:t>Rita</a:t>
            </a:r>
            <a:r>
              <a:rPr lang="en-US" sz="1600" b="0" i="0" u="none" strike="noStrike" kern="1200" cap="none" spc="0" baseline="0">
                <a:solidFill>
                  <a:srgbClr val="000000"/>
                </a:solidFill>
                <a:uFillTx/>
                <a:latin typeface="Times New Roman" panose="02020603050405020304" pitchFamily="18"/>
                <a:cs typeface="Times New Roman" panose="02020603050405020304" pitchFamily="18"/>
              </a:rPr>
              <a:t> .</a:t>
            </a: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285750" marR="0" lvl="0" indent="-285750" algn="just" defTabSz="914400" rtl="0" fontAlgn="auto" hangingPunct="1">
              <a:lnSpc>
                <a:spcPct val="100000"/>
              </a:lnSpc>
              <a:spcBef>
                <a:spcPts val="0"/>
              </a:spcBef>
              <a:spcAft>
                <a:spcPts val="0"/>
              </a:spcAft>
              <a:buSzPct val="100000"/>
              <a:buFont typeface="Wingdings" panose="05000000000000000000" pitchFamily="2"/>
              <a:buChar char="v"/>
              <a:defRPr sz="1800" b="0" i="0" u="none" strike="noStrike" kern="0" cap="none" spc="0" baseline="0">
                <a:solidFill>
                  <a:srgbClr val="000000"/>
                </a:solidFill>
                <a:uFillTx/>
              </a:defRPr>
            </a:pPr>
            <a:endParaRPr lang="en-US" sz="1600" b="0" i="0" u="none" strike="noStrike" kern="1200" cap="none" spc="0" baseline="0">
              <a:solidFill>
                <a:srgbClr val="000000"/>
              </a:solidFill>
              <a:uFillTx/>
              <a:latin typeface="Times New Roman" panose="02020603050405020304" pitchFamily="18"/>
              <a:cs typeface="Times New Roman" panose="02020603050405020304" pitchFamily="18"/>
            </a:endParaRPr>
          </a:p>
          <a:p>
            <a:pPr marL="0" marR="0" lvl="0" indent="0" algn="just"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de-DE" sz="1600" b="0" i="0" u="none" strike="noStrike" kern="1200" cap="none" spc="0" baseline="0">
              <a:solidFill>
                <a:srgbClr val="000000"/>
              </a:solidFill>
              <a:uFillTx/>
              <a:latin typeface="Times New Roman" panose="02020603050405020304" pitchFamily="18"/>
              <a:cs typeface="Times New Roman" panose="02020603050405020304" pitchFamily="1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838203" y="365129"/>
            <a:ext cx="10515600" cy="618097"/>
          </a:xfrm>
        </p:spPr>
        <p:txBody>
          <a:bodyPr anchorCtr="1"/>
          <a:lstStyle/>
          <a:p>
            <a:pPr lvl="0" algn="ctr"/>
            <a:r>
              <a:rPr lang="en-US" sz="3600">
                <a:latin typeface="Times New Roman" panose="02020603050405020304" pitchFamily="18"/>
                <a:cs typeface="Times New Roman" panose="02020603050405020304" pitchFamily="18"/>
              </a:rPr>
              <a:t>Downtime Impact: Time Lost</a:t>
            </a:r>
            <a:endParaRPr lang="de-DE" sz="3600">
              <a:latin typeface="Times New Roman" panose="02020603050405020304" pitchFamily="18"/>
              <a:cs typeface="Times New Roman" panose="02020603050405020304" pitchFamily="18"/>
            </a:endParaRPr>
          </a:p>
        </p:txBody>
      </p:sp>
      <p:pic>
        <p:nvPicPr>
          <p:cNvPr id="3" name="Content Placeholder 8" descr="Silver stopwatch"/>
          <p:cNvPicPr>
            <a:picLocks noGrp="1" noChangeAspect="1"/>
          </p:cNvPicPr>
          <p:nvPr>
            <p:ph idx="1"/>
          </p:nvPr>
        </p:nvPicPr>
        <p:blipFill>
          <a:blip r:embed="rId1"/>
          <a:stretch>
            <a:fillRect/>
          </a:stretch>
        </p:blipFill>
        <p:spPr>
          <a:xfrm>
            <a:off x="6096003" y="1435507"/>
            <a:ext cx="6096003" cy="5422492"/>
          </a:xfrm>
        </p:spPr>
      </p:pic>
      <p:sp>
        <p:nvSpPr>
          <p:cNvPr id="4" name="TextBox 9"/>
          <p:cNvSpPr txBox="1"/>
          <p:nvPr/>
        </p:nvSpPr>
        <p:spPr>
          <a:xfrm>
            <a:off x="245809" y="1435507"/>
            <a:ext cx="5683041" cy="471154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1000"/>
              </a:spcBef>
              <a:spcAft>
                <a:spcPts val="500"/>
              </a:spcAft>
              <a:buNone/>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anose="02020603050405020304" pitchFamily="18"/>
                <a:ea typeface="SimSun" panose="02010600030101010101" pitchFamily="2" charset="-122"/>
              </a:rPr>
              <a:t>Frequency of downtime directly correlates with total time spent in downtime </a:t>
            </a:r>
            <a:endParaRPr lang="en-US" sz="120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0" marR="0" lvl="0" indent="0" algn="l" defTabSz="914400" rtl="0" fontAlgn="auto" hangingPunct="1">
              <a:lnSpc>
                <a:spcPct val="100000"/>
              </a:lnSpc>
              <a:spcBef>
                <a:spcPts val="1000"/>
              </a:spcBef>
              <a:spcAft>
                <a:spcPts val="500"/>
              </a:spcAft>
              <a:buNone/>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panose="02020603050405020304" pitchFamily="18"/>
                <a:ea typeface="SimSun" panose="02010600030101010101" pitchFamily="2" charset="-122"/>
              </a:rPr>
              <a:t>Primary Causes of Lost Time</a:t>
            </a:r>
            <a:endParaRPr lang="en-US" sz="120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228600" marR="0" lvl="0" indent="-228600" algn="just" defTabSz="914400" rtl="0" fontAlgn="auto" hangingPunct="1">
              <a:lnSpc>
                <a:spcPct val="100000"/>
              </a:lnSpc>
              <a:spcBef>
                <a:spcPts val="1000"/>
              </a:spcBef>
              <a:spcAft>
                <a:spcPts val="0"/>
              </a:spcAft>
              <a:buNone/>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Wingdings" panose="05000000000000000000" pitchFamily="2"/>
                <a:ea typeface="SimSun" panose="02010600030101010101" pitchFamily="2" charset="-122"/>
              </a:rPr>
              <a:t>v</a:t>
            </a:r>
            <a:r>
              <a:rPr lang="en-US" sz="1800" b="0" i="0" u="none" strike="noStrike" kern="1200" cap="none" spc="0" baseline="0">
                <a:solidFill>
                  <a:srgbClr val="000000"/>
                </a:solidFill>
                <a:uFillTx/>
                <a:latin typeface="Times New Roman" panose="02020603050405020304" pitchFamily="18"/>
                <a:ea typeface="SimSun" panose="02010600030101010101" pitchFamily="2" charset="-122"/>
              </a:rPr>
              <a:t>Cleaning/Sanitation resulted in the highest downtime hours, making it the largest contributor to production time loss.</a:t>
            </a:r>
            <a:endParaRPr lang="en-US" sz="105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228600" marR="0" lvl="0" indent="-228600" algn="just" defTabSz="914400" rtl="0" fontAlgn="auto" hangingPunct="1">
              <a:lnSpc>
                <a:spcPct val="100000"/>
              </a:lnSpc>
              <a:spcBef>
                <a:spcPts val="1000"/>
              </a:spcBef>
              <a:spcAft>
                <a:spcPts val="0"/>
              </a:spcAft>
              <a:buNone/>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Wingdings" panose="05000000000000000000" pitchFamily="2"/>
                <a:ea typeface="SimSun" panose="02010600030101010101" pitchFamily="2" charset="-122"/>
              </a:rPr>
              <a:t>v</a:t>
            </a:r>
            <a:r>
              <a:rPr lang="en-US" sz="1800" b="0" i="0" u="none" strike="noStrike" kern="1200" cap="none" spc="0" baseline="0">
                <a:solidFill>
                  <a:srgbClr val="000000"/>
                </a:solidFill>
                <a:uFillTx/>
                <a:latin typeface="Times New Roman" panose="02020603050405020304" pitchFamily="18"/>
                <a:ea typeface="SimSun" panose="02010600030101010101" pitchFamily="2" charset="-122"/>
              </a:rPr>
              <a:t>Raw Material Shortages, Scheduling/Coordination Issues, and Machine Breakdowns also caused significant downtime, each exceeding 75 hours</a:t>
            </a:r>
            <a:r>
              <a:rPr lang="en-US" sz="1800" b="1" i="0" u="none" strike="noStrike" kern="1200" cap="none" spc="0" baseline="0">
                <a:solidFill>
                  <a:srgbClr val="000000"/>
                </a:solidFill>
                <a:uFillTx/>
                <a:latin typeface="Times New Roman" panose="02020603050405020304" pitchFamily="18"/>
                <a:ea typeface="SimSun" panose="02010600030101010101" pitchFamily="2" charset="-122"/>
              </a:rPr>
              <a:t>.</a:t>
            </a:r>
            <a:endParaRPr lang="en-US" sz="105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0" marR="0" lvl="0" indent="0" algn="just" defTabSz="914400" rtl="0" fontAlgn="auto" hangingPunct="1">
              <a:lnSpc>
                <a:spcPct val="100000"/>
              </a:lnSpc>
              <a:spcBef>
                <a:spcPts val="1000"/>
              </a:spcBef>
              <a:spcAft>
                <a:spcPts val="500"/>
              </a:spcAft>
              <a:buNone/>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panose="02020603050405020304" pitchFamily="18"/>
                <a:ea typeface="SimSun" panose="02010600030101010101" pitchFamily="2" charset="-122"/>
              </a:rPr>
              <a:t>Operators with Most Time Wasted</a:t>
            </a:r>
            <a:endParaRPr lang="en-US" sz="120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228600" marR="0" lvl="0" indent="-228600" algn="just" defTabSz="914400" rtl="0" fontAlgn="auto" hangingPunct="1">
              <a:lnSpc>
                <a:spcPct val="100000"/>
              </a:lnSpc>
              <a:spcBef>
                <a:spcPts val="1000"/>
              </a:spcBef>
              <a:spcAft>
                <a:spcPts val="0"/>
              </a:spcAft>
              <a:buNone/>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Wingdings" panose="05000000000000000000" pitchFamily="2"/>
                <a:ea typeface="SimSun" panose="02010600030101010101" pitchFamily="2" charset="-122"/>
              </a:rPr>
              <a:t>v</a:t>
            </a:r>
            <a:r>
              <a:rPr lang="en-US" sz="1800" b="1" i="0" u="none" strike="noStrike" kern="1200" cap="none" spc="0" baseline="0">
                <a:solidFill>
                  <a:srgbClr val="000000"/>
                </a:solidFill>
                <a:uFillTx/>
                <a:latin typeface="Times New Roman" panose="02020603050405020304" pitchFamily="18"/>
                <a:ea typeface="SimSun" panose="02010600030101010101" pitchFamily="2" charset="-122"/>
              </a:rPr>
              <a:t> </a:t>
            </a:r>
            <a:r>
              <a:rPr lang="en-US" sz="1600" b="1" i="0" u="none" strike="noStrike" kern="1200" cap="none" spc="0" baseline="0">
                <a:solidFill>
                  <a:srgbClr val="000000"/>
                </a:solidFill>
                <a:uFillTx/>
                <a:latin typeface="Times New Roman" panose="02020603050405020304" pitchFamily="18"/>
                <a:ea typeface="SimSun" panose="02010600030101010101" pitchFamily="2" charset="-122"/>
              </a:rPr>
              <a:t>Paul</a:t>
            </a:r>
            <a:r>
              <a:rPr lang="en-US" sz="1600" b="0" i="0" u="none" strike="noStrike" kern="1200" cap="none" spc="0" baseline="0">
                <a:solidFill>
                  <a:srgbClr val="000000"/>
                </a:solidFill>
                <a:uFillTx/>
                <a:latin typeface="Times New Roman" panose="02020603050405020304" pitchFamily="18"/>
                <a:ea typeface="SimSun" panose="02010600030101010101" pitchFamily="2" charset="-122"/>
              </a:rPr>
              <a:t> recorded the highest total downtime, indicating the greatest amount of production time lost.</a:t>
            </a:r>
            <a:endParaRPr lang="en-US" sz="105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ea typeface="SimSun" panose="02010600030101010101" pitchFamily="2" charset="-122"/>
              </a:rPr>
              <a:t>James</a:t>
            </a:r>
            <a:r>
              <a:rPr lang="en-US" sz="1600" b="0" i="0" u="none" strike="noStrike" kern="1200" cap="none" spc="0" baseline="0">
                <a:solidFill>
                  <a:srgbClr val="000000"/>
                </a:solidFill>
                <a:uFillTx/>
                <a:latin typeface="Times New Roman" panose="02020603050405020304" pitchFamily="18"/>
                <a:ea typeface="SimSun" panose="02010600030101010101" pitchFamily="2" charset="-122"/>
              </a:rPr>
              <a:t> and </a:t>
            </a:r>
            <a:r>
              <a:rPr lang="en-US" sz="1600" b="1" i="0" u="none" strike="noStrike" kern="1200" cap="none" spc="0" baseline="0">
                <a:solidFill>
                  <a:srgbClr val="000000"/>
                </a:solidFill>
                <a:uFillTx/>
                <a:latin typeface="Times New Roman" panose="02020603050405020304" pitchFamily="18"/>
                <a:ea typeface="SimSun" panose="02010600030101010101" pitchFamily="2" charset="-122"/>
              </a:rPr>
              <a:t>Emily</a:t>
            </a:r>
            <a:r>
              <a:rPr lang="en-US" sz="1600" b="0" i="0" u="none" strike="noStrike" kern="1200" cap="none" spc="0" baseline="0">
                <a:solidFill>
                  <a:srgbClr val="000000"/>
                </a:solidFill>
                <a:uFillTx/>
                <a:latin typeface="Times New Roman" panose="02020603050405020304" pitchFamily="18"/>
                <a:ea typeface="SimSun" panose="02010600030101010101" pitchFamily="2" charset="-122"/>
              </a:rPr>
              <a:t> also experienced significant downtime, contributing to overall production delays</a:t>
            </a:r>
            <a:endParaRPr lang="en-US" sz="1050" b="0" i="0" u="none" strike="noStrike" kern="1200" cap="none" spc="0" baseline="0">
              <a:solidFill>
                <a:srgbClr val="000000"/>
              </a:solidFill>
              <a:uFillTx/>
              <a:latin typeface="Times New Roman" panose="02020603050405020304" pitchFamily="18"/>
              <a:ea typeface="SimSun"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838203" y="256973"/>
            <a:ext cx="10515600" cy="765581"/>
          </a:xfrm>
        </p:spPr>
        <p:txBody>
          <a:bodyPr anchorCtr="1"/>
          <a:lstStyle/>
          <a:p>
            <a:pPr lvl="0" algn="ctr"/>
            <a:r>
              <a:rPr lang="en-US" sz="4000">
                <a:latin typeface="Times New Roman" panose="02020603050405020304" pitchFamily="18"/>
                <a:cs typeface="Times New Roman" panose="02020603050405020304" pitchFamily="18"/>
              </a:rPr>
              <a:t>Scheduling Gaps Identified</a:t>
            </a:r>
            <a:endParaRPr lang="de-DE" sz="4000">
              <a:latin typeface="Times New Roman" panose="02020603050405020304" pitchFamily="18"/>
              <a:cs typeface="Times New Roman" panose="02020603050405020304" pitchFamily="18"/>
            </a:endParaRPr>
          </a:p>
        </p:txBody>
      </p:sp>
      <p:sp>
        <p:nvSpPr>
          <p:cNvPr id="3" name="TextBox 10"/>
          <p:cNvSpPr txBox="1"/>
          <p:nvPr/>
        </p:nvSpPr>
        <p:spPr>
          <a:xfrm>
            <a:off x="39328" y="1657468"/>
            <a:ext cx="4719483" cy="2231190"/>
          </a:xfrm>
          <a:prstGeom prst="rect">
            <a:avLst/>
          </a:prstGeom>
          <a:noFill/>
          <a:ln cap="flat">
            <a:noFill/>
          </a:ln>
        </p:spPr>
        <p:txBody>
          <a:bodyPr vert="horz" wrap="square" lIns="91440" tIns="45720" rIns="91440" bIns="45720" anchor="t" anchorCtr="0" compatLnSpc="1">
            <a:spAutoFit/>
          </a:bodyPr>
          <a:lstStyle/>
          <a:p>
            <a:pPr marL="228600" marR="0" lvl="0" indent="-228600" algn="just" defTabSz="914400" rtl="0" fontAlgn="auto" hangingPunct="1">
              <a:lnSpc>
                <a:spcPct val="100000"/>
              </a:lnSpc>
              <a:spcBef>
                <a:spcPts val="1000"/>
              </a:spcBef>
              <a:spcAft>
                <a:spcPts val="0"/>
              </a:spcAft>
              <a:buNone/>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Wingdings" panose="05000000000000000000" pitchFamily="2"/>
                <a:ea typeface="SimSun" panose="02010600030101010101" pitchFamily="2" charset="-122"/>
              </a:rPr>
              <a:t>v </a:t>
            </a:r>
            <a:r>
              <a:rPr lang="en-US" sz="1800" b="0" i="0" u="none" strike="noStrike" kern="1200" cap="none" spc="0" baseline="0">
                <a:solidFill>
                  <a:srgbClr val="000000"/>
                </a:solidFill>
                <a:uFillTx/>
                <a:latin typeface="Times New Roman" panose="02020603050405020304" pitchFamily="18"/>
                <a:ea typeface="SimSun" panose="02010600030101010101" pitchFamily="2" charset="-122"/>
              </a:rPr>
              <a:t>The analysis identified gaps in operator scheduling during batch production.</a:t>
            </a:r>
            <a:endParaRPr lang="en-US" sz="110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228600" marR="0" lvl="0" indent="-228600" algn="just" defTabSz="914400" rtl="0" fontAlgn="auto" hangingPunct="1">
              <a:lnSpc>
                <a:spcPct val="100000"/>
              </a:lnSpc>
              <a:spcBef>
                <a:spcPts val="1000"/>
              </a:spcBef>
              <a:spcAft>
                <a:spcPts val="0"/>
              </a:spcAft>
              <a:buNone/>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Wingdings" panose="05000000000000000000" pitchFamily="2"/>
                <a:ea typeface="SimSun" panose="02010600030101010101" pitchFamily="2" charset="-122"/>
              </a:rPr>
              <a:t>v </a:t>
            </a:r>
            <a:r>
              <a:rPr lang="en-US" sz="1800" b="0" i="0" u="none" strike="noStrike" kern="1200" cap="none" spc="0" baseline="0">
                <a:solidFill>
                  <a:srgbClr val="000000"/>
                </a:solidFill>
                <a:uFillTx/>
                <a:latin typeface="Times New Roman" panose="02020603050405020304" pitchFamily="18"/>
                <a:ea typeface="SimSun" panose="02010600030101010101" pitchFamily="2" charset="-122"/>
              </a:rPr>
              <a:t>Assigning operators to handle two or more products concurrently may contribute to increased downtime and reduced production efficiency.</a:t>
            </a:r>
            <a:endParaRPr lang="en-US" sz="1100" b="0" i="0" u="none" strike="noStrike" kern="1200" cap="none" spc="0" baseline="0">
              <a:solidFill>
                <a:srgbClr val="000000"/>
              </a:solidFill>
              <a:uFillTx/>
              <a:latin typeface="Times New Roman" panose="02020603050405020304" pitchFamily="18"/>
              <a:ea typeface="SimSun" panose="02010600030101010101" pitchFamily="2" charset="-122"/>
            </a:endParaRPr>
          </a:p>
          <a:p>
            <a:pPr marL="0" marR="0" lvl="0" indent="0" algn="just" defTabSz="914400" rtl="0" fontAlgn="auto" hangingPunct="1">
              <a:lnSpc>
                <a:spcPct val="150000"/>
              </a:lnSpc>
              <a:spcBef>
                <a:spcPts val="500"/>
              </a:spcBef>
              <a:spcAft>
                <a:spcPts val="500"/>
              </a:spcAft>
              <a:buNone/>
              <a:defRPr sz="1800" b="0" i="0" u="none" strike="noStrike" kern="0" cap="none" spc="0" baseline="0">
                <a:solidFill>
                  <a:srgbClr val="000000"/>
                </a:solidFill>
                <a:uFillTx/>
              </a:defRPr>
            </a:pPr>
            <a:r>
              <a:rPr lang="en-US" sz="1400" b="0" i="0" u="none" strike="noStrike" kern="0" cap="none" spc="0" baseline="0">
                <a:solidFill>
                  <a:srgbClr val="000000"/>
                </a:solidFill>
                <a:uFillTx/>
                <a:latin typeface="Times New Roman" panose="02020603050405020304" pitchFamily="18"/>
                <a:ea typeface="SimSun" panose="02010600030101010101" pitchFamily="2" charset="-122"/>
              </a:rPr>
              <a:t> </a:t>
            </a:r>
            <a:endParaRPr lang="en-US" sz="1400" b="0" i="0" u="none" strike="noStrike" kern="1200" cap="none" spc="0" baseline="0">
              <a:solidFill>
                <a:srgbClr val="000000"/>
              </a:solidFill>
              <a:uFillTx/>
              <a:latin typeface="Times New Roman" panose="02020603050405020304" pitchFamily="18"/>
              <a:ea typeface="SimSun" panose="02010600030101010101" pitchFamily="2" charset="-122"/>
            </a:endParaRPr>
          </a:p>
        </p:txBody>
      </p:sp>
      <p:pic>
        <p:nvPicPr>
          <p:cNvPr id="4" name="Picture 2" descr="115 Production Bottlenecks Stock Photos - Free &amp; Royalty-Free Stock Photos  from Dreamstime"/>
          <p:cNvPicPr>
            <a:picLocks noGrp="1" noChangeAspect="1"/>
          </p:cNvPicPr>
          <p:nvPr>
            <p:ph idx="1"/>
          </p:nvPr>
        </p:nvPicPr>
        <p:blipFill>
          <a:blip r:embed="rId1"/>
          <a:srcRect/>
          <a:stretch>
            <a:fillRect/>
          </a:stretch>
        </p:blipFill>
        <p:spPr>
          <a:xfrm>
            <a:off x="5505446" y="1657468"/>
            <a:ext cx="6686549" cy="5087456"/>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838203" y="73746"/>
            <a:ext cx="10515600" cy="929149"/>
          </a:xfrm>
        </p:spPr>
        <p:txBody>
          <a:bodyPr anchorCtr="1"/>
          <a:lstStyle/>
          <a:p>
            <a:pPr lvl="0" algn="ctr"/>
            <a:r>
              <a:rPr lang="en-US" sz="4000">
                <a:latin typeface="Times New Roman" panose="02020603050405020304" pitchFamily="18"/>
                <a:cs typeface="Times New Roman" panose="02020603050405020304" pitchFamily="18"/>
              </a:rPr>
              <a:t>Recommendations for Improvement</a:t>
            </a:r>
            <a:endParaRPr lang="de-DE" sz="4000">
              <a:latin typeface="Times New Roman" panose="02020603050405020304" pitchFamily="18"/>
              <a:cs typeface="Times New Roman" panose="02020603050405020304" pitchFamily="18"/>
            </a:endParaRPr>
          </a:p>
        </p:txBody>
      </p:sp>
      <p:pic>
        <p:nvPicPr>
          <p:cNvPr id="3" name="Content Placeholder 2" descr="Top 7 R&amp;D Bottlenecks That Kill Innovation"/>
          <p:cNvPicPr>
            <a:picLocks noGrp="1" noChangeAspect="1"/>
          </p:cNvPicPr>
          <p:nvPr>
            <p:ph idx="1"/>
          </p:nvPr>
        </p:nvPicPr>
        <p:blipFill>
          <a:blip r:embed="rId1"/>
          <a:srcRect/>
          <a:stretch>
            <a:fillRect/>
          </a:stretch>
        </p:blipFill>
        <p:spPr>
          <a:xfrm>
            <a:off x="6096003" y="1140540"/>
            <a:ext cx="6096003" cy="5717459"/>
          </a:xfrm>
        </p:spPr>
      </p:pic>
      <p:sp>
        <p:nvSpPr>
          <p:cNvPr id="4" name="TextBox 5"/>
          <p:cNvSpPr txBox="1"/>
          <p:nvPr/>
        </p:nvSpPr>
        <p:spPr>
          <a:xfrm>
            <a:off x="496528" y="1306320"/>
            <a:ext cx="5599474" cy="4687817"/>
          </a:xfrm>
          <a:prstGeom prst="rect">
            <a:avLst/>
          </a:prstGeom>
          <a:noFill/>
          <a:ln cap="flat">
            <a:noFill/>
          </a:ln>
        </p:spPr>
        <p:txBody>
          <a:bodyPr vert="horz" wrap="square" lIns="91440" tIns="45720" rIns="91440" bIns="45720" anchor="t" anchorCtr="0" compatLnSpc="1">
            <a:spAutoFit/>
          </a:bodyPr>
          <a:lstStyle/>
          <a:p>
            <a:pPr marL="285750" marR="0" lvl="0" indent="-285750" algn="l" defTabSz="914400" rtl="0" fontAlgn="auto" hangingPunct="1">
              <a:lnSpc>
                <a:spcPct val="100000"/>
              </a:lnSpc>
              <a:spcBef>
                <a:spcPts val="100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Inventory &amp; Alerts</a:t>
            </a:r>
            <a:b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br>
            <a: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Introduce real-time inventory tracking and automated low raw material alerts.</a:t>
            </a:r>
            <a:endPar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endParaRPr>
          </a:p>
          <a:p>
            <a:pPr marL="285750" marR="0" lvl="0" indent="-285750" algn="l" defTabSz="914400" rtl="0" fontAlgn="auto" hangingPunct="1">
              <a:lnSpc>
                <a:spcPct val="100000"/>
              </a:lnSpc>
              <a:spcBef>
                <a:spcPts val="100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Preventive Maintenance</a:t>
            </a:r>
            <a:b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br>
            <a: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Schedule regular preventive maintenance for high-downtime machines.</a:t>
            </a:r>
            <a:endPar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endParaRPr>
          </a:p>
          <a:p>
            <a:pPr marL="285750" marR="0" lvl="0" indent="-285750" algn="l" defTabSz="914400" rtl="0" fontAlgn="auto" hangingPunct="1">
              <a:lnSpc>
                <a:spcPct val="100000"/>
              </a:lnSpc>
              <a:spcBef>
                <a:spcPts val="100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Batch Scheduling</a:t>
            </a:r>
            <a:b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br>
            <a: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Implement better production scheduling and sequencing to avoid batch overlaps.</a:t>
            </a:r>
            <a:endPar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endParaRPr>
          </a:p>
          <a:p>
            <a:pPr marL="285750" marR="0" lvl="0" indent="-285750" algn="l" defTabSz="914400" rtl="0" fontAlgn="auto" hangingPunct="1">
              <a:lnSpc>
                <a:spcPct val="100000"/>
              </a:lnSpc>
              <a:spcBef>
                <a:spcPts val="100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Operator Training &amp; Workload</a:t>
            </a:r>
            <a:b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br>
            <a: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Provide targeted operator training and review workload allocation to improve productivity.</a:t>
            </a:r>
            <a:endPar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endParaRPr>
          </a:p>
          <a:p>
            <a:pPr marL="285750" marR="0" lvl="0" indent="-285750" algn="l" defTabSz="914400" rtl="0" fontAlgn="auto" hangingPunct="1">
              <a:lnSpc>
                <a:spcPct val="100000"/>
              </a:lnSpc>
              <a:spcBef>
                <a:spcPts val="1000"/>
              </a:spcBef>
              <a:spcAft>
                <a:spcPts val="0"/>
              </a:spcAft>
              <a:buSzPct val="100000"/>
              <a:buFont typeface="Wingdings" panose="05000000000000000000" pitchFamily="2"/>
              <a:buChar char="v"/>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Downtime Reviews</a:t>
            </a:r>
            <a:b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br>
            <a:r>
              <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Conduct regular downtime reviews and implement early warning systems for proactive decision-making.</a:t>
            </a:r>
            <a:endPar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endParaRPr>
          </a:p>
          <a:p>
            <a:pPr marL="0" marR="0" lvl="0" indent="0" algn="just" defTabSz="914400" rtl="0" fontAlgn="auto" hangingPunct="1">
              <a:lnSpc>
                <a:spcPct val="150000"/>
              </a:lnSpc>
              <a:spcBef>
                <a:spcPts val="500"/>
              </a:spcBef>
              <a:spcAft>
                <a:spcPts val="500"/>
              </a:spcAft>
              <a:buNone/>
              <a:defRPr sz="1800" b="0" i="0" u="none" strike="noStrike" kern="0" cap="none" spc="0" baseline="0">
                <a:solidFill>
                  <a:srgbClr val="000000"/>
                </a:solidFill>
                <a:uFillTx/>
              </a:defRPr>
            </a:pPr>
            <a:r>
              <a:rPr lang="en-US" sz="1600" b="0" i="0" u="none" strike="noStrike" kern="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rPr>
              <a:t> </a:t>
            </a:r>
            <a:endParaRPr lang="en-US" sz="1600" b="0" i="0" u="none" strike="noStrike" kern="1200" cap="none" spc="0" baseline="0">
              <a:solidFill>
                <a:srgbClr val="000000"/>
              </a:solidFill>
              <a:uFillTx/>
              <a:latin typeface="Times New Roman" panose="02020603050405020304" pitchFamily="18"/>
              <a:ea typeface="SimSun" panose="02010600030101010101" pitchFamily="2" charset="-122"/>
              <a:cs typeface="Times New Roman" panose="02020603050405020304" pitchFamily="1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7484" y="108155"/>
            <a:ext cx="11906863" cy="66367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pic>
        <p:nvPicPr>
          <p:cNvPr id="2" name="Picture 4" descr="A screenshot of a graph"/>
          <p:cNvPicPr>
            <a:picLocks noChangeAspect="1"/>
          </p:cNvPicPr>
          <p:nvPr/>
        </p:nvPicPr>
        <p:blipFill>
          <a:blip r:embed="rId1"/>
          <a:stretch>
            <a:fillRect/>
          </a:stretch>
        </p:blipFill>
        <p:spPr>
          <a:xfrm>
            <a:off x="0" y="78658"/>
            <a:ext cx="12192000" cy="6779341"/>
          </a:xfrm>
          <a:prstGeom prst="rect">
            <a:avLst/>
          </a:prstGeom>
          <a:noFill/>
          <a:ln cap="flat">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0F8FD"/>
            </a:gs>
            <a:gs pos="100000">
              <a:srgbClr val="74C4E9"/>
            </a:gs>
          </a:gsLst>
          <a:lin ang="5400000"/>
        </a:gradFill>
        <a:effectLst/>
      </p:bgPr>
    </p:bg>
    <p:spTree>
      <p:nvGrpSpPr>
        <p:cNvPr id="1" name=""/>
        <p:cNvGrpSpPr/>
        <p:nvPr/>
      </p:nvGrpSpPr>
      <p:grpSpPr>
        <a:xfrm>
          <a:off x="0" y="0"/>
          <a:ext cx="0" cy="0"/>
          <a:chOff x="0" y="0"/>
          <a:chExt cx="0" cy="0"/>
        </a:xfrm>
      </p:grpSpPr>
      <p:pic>
        <p:nvPicPr>
          <p:cNvPr id="2" name="Picture 2" descr="A screenshot of a computer schedule&#10;&#10;AI-generated content may be incorrect."/>
          <p:cNvPicPr>
            <a:picLocks noChangeAspect="1"/>
          </p:cNvPicPr>
          <p:nvPr/>
        </p:nvPicPr>
        <p:blipFill>
          <a:blip r:embed="rId1"/>
          <a:stretch>
            <a:fillRect/>
          </a:stretch>
        </p:blipFill>
        <p:spPr>
          <a:xfrm>
            <a:off x="98325" y="176982"/>
            <a:ext cx="11926528" cy="6587611"/>
          </a:xfrm>
          <a:prstGeom prst="rect">
            <a:avLst/>
          </a:prstGeom>
          <a:noFill/>
          <a:ln cap="flat">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4359</Words>
  <Application>WPS Presentation</Application>
  <PresentationFormat>Widescreen</PresentationFormat>
  <Paragraphs>116</Paragraphs>
  <Slides>13</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SimSun</vt:lpstr>
      <vt:lpstr>Wingdings</vt:lpstr>
      <vt:lpstr>Aptos</vt:lpstr>
      <vt:lpstr>Segoe UI</vt:lpstr>
      <vt:lpstr>Aptos Display</vt:lpstr>
      <vt:lpstr>Segoe UI Variable Display</vt:lpstr>
      <vt:lpstr>Arial</vt:lpstr>
      <vt:lpstr>Times New Roman</vt:lpstr>
      <vt:lpstr>ADLaM Display</vt:lpstr>
      <vt:lpstr>Segoe Print</vt:lpstr>
      <vt:lpstr>Wingdings</vt:lpstr>
      <vt:lpstr>Microsoft YaHei</vt:lpstr>
      <vt:lpstr>Arial Unicode MS</vt:lpstr>
      <vt:lpstr>Office Theme</vt:lpstr>
      <vt:lpstr>Evaluating Production Bottlenecks</vt:lpstr>
      <vt:lpstr>Key Performance Indicators</vt:lpstr>
      <vt:lpstr>Product Downtime Frequency</vt:lpstr>
      <vt:lpstr>The Root Causes of Downtime</vt:lpstr>
      <vt:lpstr>Downtime Trends (March – August 2025)</vt:lpstr>
      <vt:lpstr>Consistent Downtime Causes</vt:lpstr>
      <vt:lpstr>Operator Downtime</vt:lpstr>
      <vt:lpstr>Downtown Impact: Time Lost</vt:lpstr>
      <vt:lpstr>Scheduling Gaps Identified</vt:lpstr>
      <vt:lpstr>Recommendations for Improvement</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Collins Agyei</dc:creator>
  <cp:lastModifiedBy>Collins Agyei</cp:lastModifiedBy>
  <cp:revision>33</cp:revision>
  <dcterms:created xsi:type="dcterms:W3CDTF">2026-06-24T03:56:00Z</dcterms:created>
  <dcterms:modified xsi:type="dcterms:W3CDTF">2026-09-20T19:35:57Z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6C1FDDB120D64D8AAC2F29ADB0ED6959_12</vt:lpwstr>
  </property>
</Properties>
</file>